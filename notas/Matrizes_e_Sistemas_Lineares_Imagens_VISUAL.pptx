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2828"/>
    <a:srgbClr val="28BC28"/>
    <a:srgbClr val="285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1188720"/>
            <a:ext cx="694944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7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badi" panose="020B0604020104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6400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 b="1">
                <a:solidFill>
                  <a:srgbClr val="0F2043"/>
                </a:solidFill>
              </a:defRPr>
            </a:pP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spcAft>
                <a:spcPts val="1800"/>
              </a:spcAft>
              <a:defRPr sz="3400" b="1">
                <a:solidFill>
                  <a:srgbClr val="0F2043"/>
                </a:solidFill>
              </a:defRPr>
            </a:pP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Matrizes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e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sistemas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lineares</a:t>
            </a:r>
            <a:br>
              <a:rPr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em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imagens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digitais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spcAft>
                <a:spcPts val="1800"/>
              </a:spcAft>
              <a:defRPr sz="3400" b="1">
                <a:solidFill>
                  <a:srgbClr val="0F2043"/>
                </a:solidFill>
              </a:defRPr>
            </a:pP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spcAft>
                <a:spcPts val="1200"/>
              </a:spcAft>
              <a:defRPr sz="1800" b="1">
                <a:solidFill>
                  <a:srgbClr val="1E72DB"/>
                </a:solidFill>
              </a:defRPr>
            </a:pP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Álgebra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Linear ·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Ciência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da Computação</a:t>
            </a:r>
          </a:p>
          <a:p>
            <a:pPr>
              <a:defRPr sz="1500">
                <a:solidFill>
                  <a:srgbClr val="6C757D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Lucas Müller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Scuzziato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 ·  18/09/2026</a:t>
            </a:r>
          </a:p>
        </p:txBody>
      </p:sp>
      <p:pic>
        <p:nvPicPr>
          <p:cNvPr id="4" name="Picture 3" descr="cover_mosa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45920"/>
            <a:ext cx="3200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72DB"/>
                </a:solidFill>
              </a:defRPr>
            </a:pPr>
            <a:r>
              <a:t>pixels = números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2319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72DB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ÁLGEBRA LINEAR · CIÊNCIA DA COMPUTAÇÃO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48445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IMAGEM DIGITAL = MATRIZ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029200" cy="4937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254984"/>
            <a:ext cx="457200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2043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O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que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é</a:t>
            </a: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</a:defRPr>
            </a:pPr>
            <a:r>
              <a:rPr dirty="0">
                <a:latin typeface="Abadi" panose="020B0604020104020204" pitchFamily="34" charset="0"/>
              </a:rPr>
              <a:t>Tons de </a:t>
            </a:r>
            <a:r>
              <a:rPr dirty="0" err="1">
                <a:latin typeface="Abadi" panose="020B0604020104020204" pitchFamily="34" charset="0"/>
              </a:rPr>
              <a:t>cinza</a:t>
            </a:r>
            <a:r>
              <a:rPr dirty="0">
                <a:latin typeface="Abadi" panose="020B0604020104020204" pitchFamily="34" charset="0"/>
              </a:rPr>
              <a:t> → 1 </a:t>
            </a:r>
            <a:r>
              <a:rPr dirty="0" err="1">
                <a:latin typeface="Abadi" panose="020B0604020104020204" pitchFamily="34" charset="0"/>
              </a:rPr>
              <a:t>matriz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m×n</a:t>
            </a:r>
            <a:endParaRPr dirty="0">
              <a:latin typeface="Abadi" panose="020B0604020104020204" pitchFamily="34" charset="0"/>
            </a:endParaRP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</a:defRPr>
            </a:pPr>
            <a:r>
              <a:rPr dirty="0">
                <a:latin typeface="Abadi" panose="020B0604020104020204" pitchFamily="34" charset="0"/>
              </a:rPr>
              <a:t>RGB → 3 </a:t>
            </a:r>
            <a:r>
              <a:rPr dirty="0" err="1">
                <a:latin typeface="Abadi" panose="020B0604020104020204" pitchFamily="34" charset="0"/>
              </a:rPr>
              <a:t>matrizes</a:t>
            </a:r>
            <a:r>
              <a:rPr dirty="0">
                <a:latin typeface="Abadi" panose="020B0604020104020204" pitchFamily="34" charset="0"/>
              </a:rPr>
              <a:t> (R, G, B)</a:t>
            </a: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</a:defRPr>
            </a:pPr>
            <a:r>
              <a:rPr dirty="0">
                <a:latin typeface="Abadi" panose="020B0604020104020204" pitchFamily="34" charset="0"/>
              </a:rPr>
              <a:t>Cada entrada = 1 pixel (0–255)</a:t>
            </a:r>
          </a:p>
          <a:p>
            <a:pPr>
              <a:spcAft>
                <a:spcPts val="800"/>
              </a:spcAft>
              <a:defRPr sz="1000" b="0">
                <a:solidFill>
                  <a:srgbClr val="212529"/>
                </a:solidFill>
              </a:defRPr>
            </a:pPr>
            <a:endParaRPr lang="en-US" dirty="0">
              <a:latin typeface="Abadi" panose="020B0604020104020204" pitchFamily="34" charset="0"/>
            </a:endParaRPr>
          </a:p>
          <a:p>
            <a:pPr>
              <a:spcAft>
                <a:spcPts val="800"/>
              </a:spcAft>
              <a:defRPr sz="1000" b="0">
                <a:solidFill>
                  <a:srgbClr val="212529"/>
                </a:solidFill>
              </a:defRPr>
            </a:pPr>
            <a:endParaRPr dirty="0">
              <a:latin typeface="Abadi" panose="020B0604020104020204" pitchFamily="34" charset="0"/>
            </a:endParaRPr>
          </a:p>
          <a:p>
            <a:pPr>
              <a:spcAft>
                <a:spcPts val="800"/>
              </a:spcAft>
              <a:defRPr sz="1800" b="1">
                <a:solidFill>
                  <a:srgbClr val="0F2043"/>
                </a:solidFill>
              </a:defRPr>
            </a:pP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Leitura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visual</a:t>
            </a: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</a:defRPr>
            </a:pPr>
            <a:r>
              <a:rPr dirty="0" err="1">
                <a:latin typeface="Abadi" panose="020B0604020104020204" pitchFamily="34" charset="0"/>
              </a:rPr>
              <a:t>Células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claras</a:t>
            </a:r>
            <a:r>
              <a:rPr dirty="0">
                <a:latin typeface="Abadi" panose="020B0604020104020204" pitchFamily="34" charset="0"/>
              </a:rPr>
              <a:t> = </a:t>
            </a:r>
            <a:r>
              <a:rPr dirty="0" err="1">
                <a:latin typeface="Abadi" panose="020B0604020104020204" pitchFamily="34" charset="0"/>
              </a:rPr>
              <a:t>valores</a:t>
            </a:r>
            <a:r>
              <a:rPr dirty="0">
                <a:latin typeface="Abadi" panose="020B0604020104020204" pitchFamily="34" charset="0"/>
              </a:rPr>
              <a:t> altos</a:t>
            </a: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</a:defRPr>
            </a:pPr>
            <a:r>
              <a:rPr dirty="0" err="1">
                <a:latin typeface="Abadi" panose="020B0604020104020204" pitchFamily="34" charset="0"/>
              </a:rPr>
              <a:t>Células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escuras</a:t>
            </a:r>
            <a:r>
              <a:rPr dirty="0">
                <a:latin typeface="Abadi" panose="020B0604020104020204" pitchFamily="34" charset="0"/>
              </a:rPr>
              <a:t> = </a:t>
            </a:r>
            <a:r>
              <a:rPr dirty="0" err="1">
                <a:latin typeface="Abadi" panose="020B0604020104020204" pitchFamily="34" charset="0"/>
              </a:rPr>
              <a:t>valores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baixos</a:t>
            </a:r>
            <a:endParaRPr dirty="0">
              <a:latin typeface="Abadi" panose="020B0604020104020204" pitchFamily="34" charset="0"/>
            </a:endParaRPr>
          </a:p>
          <a:p>
            <a:pPr>
              <a:spcAft>
                <a:spcPts val="800"/>
              </a:spcAft>
              <a:defRPr sz="1500" b="0">
                <a:solidFill>
                  <a:srgbClr val="212529"/>
                </a:solidFill>
              </a:defRPr>
            </a:pPr>
            <a:r>
              <a:rPr dirty="0">
                <a:latin typeface="Abadi" panose="020B0604020104020204" pitchFamily="34" charset="0"/>
              </a:rPr>
              <a:t>A </a:t>
            </a:r>
            <a:r>
              <a:rPr dirty="0" err="1">
                <a:latin typeface="Abadi" panose="020B0604020104020204" pitchFamily="34" charset="0"/>
              </a:rPr>
              <a:t>matriz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guarda</a:t>
            </a:r>
            <a:r>
              <a:rPr dirty="0">
                <a:latin typeface="Abadi" panose="020B0604020104020204" pitchFamily="34" charset="0"/>
              </a:rPr>
              <a:t> a forma da </a:t>
            </a:r>
            <a:r>
              <a:rPr dirty="0" err="1">
                <a:latin typeface="Abadi" panose="020B0604020104020204" pitchFamily="34" charset="0"/>
              </a:rPr>
              <a:t>foto</a:t>
            </a:r>
            <a:endParaRPr dirty="0">
              <a:latin typeface="Abadi" panose="020B0604020104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5040" y="914400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C757D"/>
                </a:solidFill>
              </a:defRPr>
            </a:pPr>
            <a:r>
              <a:rPr dirty="0" err="1">
                <a:latin typeface="Abadi" panose="020B0604020104020204" pitchFamily="34" charset="0"/>
                <a:cs typeface="Aharoni" panose="02010803020104030203" pitchFamily="2" charset="-79"/>
              </a:rPr>
              <a:t>Recorte</a:t>
            </a:r>
            <a:r>
              <a:rPr dirty="0">
                <a:latin typeface="Abadi" panose="020B0604020104020204" pitchFamily="34" charset="0"/>
                <a:cs typeface="Aharoni" panose="02010803020104030203" pitchFamily="2" charset="-79"/>
              </a:rPr>
              <a:t> RGB 3×3 (</a:t>
            </a:r>
            <a:r>
              <a:rPr dirty="0" err="1">
                <a:latin typeface="Abadi" panose="020B0604020104020204" pitchFamily="34" charset="0"/>
                <a:cs typeface="Aharoni" panose="02010803020104030203" pitchFamily="2" charset="-79"/>
              </a:rPr>
              <a:t>número</a:t>
            </a:r>
            <a:r>
              <a:rPr dirty="0">
                <a:latin typeface="Abadi" panose="020B0604020104020204" pitchFamily="34" charset="0"/>
                <a:cs typeface="Aharoni" panose="02010803020104030203" pitchFamily="2" charset="-79"/>
              </a:rPr>
              <a:t> = canal R no </a:t>
            </a:r>
            <a:r>
              <a:rPr dirty="0" err="1">
                <a:latin typeface="Abadi" panose="020B0604020104020204" pitchFamily="34" charset="0"/>
                <a:cs typeface="Aharoni" panose="02010803020104030203" pitchFamily="2" charset="-79"/>
              </a:rPr>
              <a:t>rótulo</a:t>
            </a:r>
            <a:r>
              <a:rPr dirty="0">
                <a:latin typeface="Abadi" panose="020B0604020104020204" pitchFamily="34" charset="0"/>
                <a:cs typeface="Aharoni" panose="02010803020104030203" pitchFamily="2" charset="-79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E1470C-8624-90F1-EAF9-420E28983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71016"/>
            <a:ext cx="5175504" cy="51755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2319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72DB"/>
                </a:solidFill>
              </a:defRPr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Á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LGEBRA LINEAR · CI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Ê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NCIA DA COMPUTA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ÇÃ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753122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rPr lang="pt-BR" dirty="0">
                <a:latin typeface="Aharoni" panose="02010803020104030203" pitchFamily="2" charset="-79"/>
                <a:cs typeface="Aharoni" panose="02010803020104030203" pitchFamily="2" charset="-79"/>
              </a:rPr>
              <a:t>IMAGEM COLORIDA = 3 MATRIZES ALINHADAS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160" y="1280160"/>
            <a:ext cx="11155680" cy="1234440"/>
          </a:xfrm>
          <a:prstGeom prst="roundRect">
            <a:avLst/>
          </a:prstGeom>
          <a:solidFill>
            <a:srgbClr val="E6F2FF"/>
          </a:solidFill>
          <a:ln w="15875">
            <a:solidFill>
              <a:srgbClr val="1E7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1040" y="1604992"/>
            <a:ext cx="1078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043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Ex.: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foto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×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→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matriz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R 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×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+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matriz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G 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×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+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matriz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B 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×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 err="1">
                <a:latin typeface="Abadi" panose="020B0604020104020204" pitchFamily="34" charset="0"/>
              </a:rPr>
              <a:t>Mesma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posi</a:t>
            </a:r>
            <a:r>
              <a:rPr lang="en-US" dirty="0" err="1">
                <a:latin typeface="Abadi" panose="020B0604020104020204" pitchFamily="34" charset="0"/>
              </a:rPr>
              <a:t>çã</a:t>
            </a:r>
            <a:r>
              <a:rPr dirty="0" err="1">
                <a:latin typeface="Abadi" panose="020B0604020104020204" pitchFamily="34" charset="0"/>
              </a:rPr>
              <a:t>o</a:t>
            </a:r>
            <a:r>
              <a:rPr dirty="0">
                <a:latin typeface="Abadi" panose="020B0604020104020204" pitchFamily="34" charset="0"/>
              </a:rPr>
              <a:t> (</a:t>
            </a:r>
            <a:r>
              <a:rPr dirty="0" err="1">
                <a:latin typeface="Abadi" panose="020B0604020104020204" pitchFamily="34" charset="0"/>
              </a:rPr>
              <a:t>linha</a:t>
            </a:r>
            <a:r>
              <a:rPr dirty="0">
                <a:latin typeface="Abadi" panose="020B0604020104020204" pitchFamily="34" charset="0"/>
              </a:rPr>
              <a:t>, </a:t>
            </a:r>
            <a:r>
              <a:rPr dirty="0" err="1">
                <a:latin typeface="Abadi" panose="020B0604020104020204" pitchFamily="34" charset="0"/>
              </a:rPr>
              <a:t>coluna</a:t>
            </a:r>
            <a:r>
              <a:rPr dirty="0">
                <a:latin typeface="Abadi" panose="020B0604020104020204" pitchFamily="34" charset="0"/>
              </a:rPr>
              <a:t>) </a:t>
            </a:r>
            <a:r>
              <a:rPr dirty="0" err="1">
                <a:latin typeface="Abadi" panose="020B0604020104020204" pitchFamily="34" charset="0"/>
              </a:rPr>
              <a:t>nas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tr</a:t>
            </a:r>
            <a:r>
              <a:rPr lang="en-US" dirty="0" err="1">
                <a:latin typeface="Abadi" panose="020B0604020104020204" pitchFamily="34" charset="0"/>
              </a:rPr>
              <a:t>ê</a:t>
            </a:r>
            <a:r>
              <a:rPr dirty="0" err="1">
                <a:latin typeface="Abadi" panose="020B0604020104020204" pitchFamily="34" charset="0"/>
              </a:rPr>
              <a:t>s</a:t>
            </a:r>
            <a:r>
              <a:rPr dirty="0">
                <a:latin typeface="Abadi" panose="020B0604020104020204" pitchFamily="34" charset="0"/>
              </a:rPr>
              <a:t> = o </a:t>
            </a:r>
            <a:r>
              <a:rPr dirty="0" err="1">
                <a:latin typeface="Abadi" panose="020B0604020104020204" pitchFamily="34" charset="0"/>
              </a:rPr>
              <a:t>mesmo</a:t>
            </a:r>
            <a:r>
              <a:rPr dirty="0">
                <a:latin typeface="Abadi" panose="020B0604020104020204" pitchFamily="34" charset="0"/>
              </a:rPr>
              <a:t> pixel. Na </a:t>
            </a:r>
            <a:r>
              <a:rPr dirty="0" err="1">
                <a:latin typeface="Abadi" panose="020B0604020104020204" pitchFamily="34" charset="0"/>
              </a:rPr>
              <a:t>tela</a:t>
            </a:r>
            <a:r>
              <a:rPr dirty="0">
                <a:latin typeface="Abadi" panose="020B0604020104020204" pitchFamily="34" charset="0"/>
              </a:rPr>
              <a:t>, R+G+B </a:t>
            </a:r>
            <a:r>
              <a:rPr dirty="0" err="1">
                <a:latin typeface="Abadi" panose="020B0604020104020204" pitchFamily="34" charset="0"/>
              </a:rPr>
              <a:t>daquela</a:t>
            </a:r>
            <a:r>
              <a:rPr dirty="0">
                <a:latin typeface="Abadi" panose="020B0604020104020204" pitchFamily="34" charset="0"/>
              </a:rPr>
              <a:t> casa </a:t>
            </a:r>
            <a:r>
              <a:rPr dirty="0" err="1">
                <a:latin typeface="Abadi" panose="020B0604020104020204" pitchFamily="34" charset="0"/>
              </a:rPr>
              <a:t>viram</a:t>
            </a:r>
            <a:r>
              <a:rPr dirty="0">
                <a:latin typeface="Abadi" panose="020B0604020104020204" pitchFamily="34" charset="0"/>
              </a:rPr>
              <a:t> 1 cor.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6A4FCF-38B9-3529-955C-7B1479C72163}"/>
              </a:ext>
            </a:extLst>
          </p:cNvPr>
          <p:cNvGrpSpPr/>
          <p:nvPr/>
        </p:nvGrpSpPr>
        <p:grpSpPr>
          <a:xfrm>
            <a:off x="1981200" y="3213110"/>
            <a:ext cx="8229600" cy="2743200"/>
            <a:chOff x="2181989" y="3213110"/>
            <a:chExt cx="8229600" cy="2743200"/>
          </a:xfrm>
        </p:grpSpPr>
        <p:sp>
          <p:nvSpPr>
            <p:cNvPr id="6" name="TextBox 5"/>
            <p:cNvSpPr txBox="1"/>
            <p:nvPr/>
          </p:nvSpPr>
          <p:spPr>
            <a:xfrm>
              <a:off x="2181989" y="3213110"/>
              <a:ext cx="26517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1E72DB"/>
                  </a:solidFill>
                </a:defRPr>
              </a:pPr>
              <a:r>
                <a:rPr sz="1600" dirty="0">
                  <a:latin typeface="Aharoni" panose="02010803020104030203" pitchFamily="2" charset="-79"/>
                  <a:cs typeface="Aharoni" panose="02010803020104030203" pitchFamily="2" charset="-79"/>
                </a:rPr>
                <a:t>R (</a:t>
              </a:r>
              <a:r>
                <a:rPr sz="1600" dirty="0" err="1">
                  <a:latin typeface="Aharoni" panose="02010803020104030203" pitchFamily="2" charset="-79"/>
                  <a:cs typeface="Aharoni" panose="02010803020104030203" pitchFamily="2" charset="-79"/>
                </a:rPr>
                <a:t>vermelho</a:t>
              </a:r>
              <a:r>
                <a:rPr sz="1600" dirty="0">
                  <a:latin typeface="Aharoni" panose="02010803020104030203" pitchFamily="2" charset="-79"/>
                  <a:cs typeface="Aharoni" panose="02010803020104030203" pitchFamily="2" charset="-79"/>
                </a:rPr>
                <a:t>)</a:t>
              </a:r>
            </a:p>
          </p:txBody>
        </p:sp>
        <p:pic>
          <p:nvPicPr>
            <p:cNvPr id="7" name="Picture 6" descr="grid_r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19149" y="3578870"/>
              <a:ext cx="2377440" cy="237744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4970909" y="3213110"/>
              <a:ext cx="26517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1E72DB"/>
                  </a:solidFill>
                </a:defRPr>
              </a:pPr>
              <a:r>
                <a:rPr sz="1600" dirty="0">
                  <a:latin typeface="Aharoni" panose="02010803020104030203" pitchFamily="2" charset="-79"/>
                  <a:cs typeface="Aharoni" panose="02010803020104030203" pitchFamily="2" charset="-79"/>
                </a:rPr>
                <a:t>G (</a:t>
              </a:r>
              <a:r>
                <a:rPr sz="1600" dirty="0" err="1">
                  <a:latin typeface="Aharoni" panose="02010803020104030203" pitchFamily="2" charset="-79"/>
                  <a:cs typeface="Aharoni" panose="02010803020104030203" pitchFamily="2" charset="-79"/>
                </a:rPr>
                <a:t>verde</a:t>
              </a:r>
              <a:r>
                <a:rPr sz="1600" dirty="0">
                  <a:latin typeface="Aharoni" panose="02010803020104030203" pitchFamily="2" charset="-79"/>
                  <a:cs typeface="Aharoni" panose="02010803020104030203" pitchFamily="2" charset="-79"/>
                </a:rPr>
                <a:t>)</a:t>
              </a:r>
            </a:p>
          </p:txBody>
        </p:sp>
        <p:pic>
          <p:nvPicPr>
            <p:cNvPr id="9" name="Picture 8" descr="grid_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8069" y="3578870"/>
              <a:ext cx="2377440" cy="237744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7759829" y="3213110"/>
              <a:ext cx="26517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1E72DB"/>
                  </a:solidFill>
                </a:defRPr>
              </a:pPr>
              <a:r>
                <a:rPr sz="1600" dirty="0">
                  <a:latin typeface="Aharoni" panose="02010803020104030203" pitchFamily="2" charset="-79"/>
                  <a:cs typeface="Aharoni" panose="02010803020104030203" pitchFamily="2" charset="-79"/>
                </a:rPr>
                <a:t>B (</a:t>
              </a:r>
              <a:r>
                <a:rPr sz="1600" dirty="0" err="1">
                  <a:latin typeface="Aharoni" panose="02010803020104030203" pitchFamily="2" charset="-79"/>
                  <a:cs typeface="Aharoni" panose="02010803020104030203" pitchFamily="2" charset="-79"/>
                </a:rPr>
                <a:t>azul</a:t>
              </a:r>
              <a:r>
                <a:rPr sz="1600" dirty="0">
                  <a:latin typeface="Aharoni" panose="02010803020104030203" pitchFamily="2" charset="-79"/>
                  <a:cs typeface="Aharoni" panose="02010803020104030203" pitchFamily="2" charset="-79"/>
                </a:rPr>
                <a:t>)</a:t>
              </a:r>
            </a:p>
          </p:txBody>
        </p:sp>
        <p:pic>
          <p:nvPicPr>
            <p:cNvPr id="11" name="Picture 10" descr="grid_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96989" y="3578870"/>
              <a:ext cx="2377440" cy="23774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5D9D-6B91-E7F7-59B6-621B71D8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172694-4E95-0BFF-F2C3-DF1CC4F32B68}"/>
              </a:ext>
            </a:extLst>
          </p:cNvPr>
          <p:cNvSpPr txBox="1"/>
          <p:nvPr/>
        </p:nvSpPr>
        <p:spPr>
          <a:xfrm>
            <a:off x="640080" y="320040"/>
            <a:ext cx="32319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72DB"/>
                </a:solidFill>
              </a:defRPr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Á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LGEBRA LINEAR · CI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Ê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NCIA DA COMPUTA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ÇÃ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E5C47-8E65-451F-F45A-D29A48619C97}"/>
              </a:ext>
            </a:extLst>
          </p:cNvPr>
          <p:cNvSpPr txBox="1"/>
          <p:nvPr/>
        </p:nvSpPr>
        <p:spPr>
          <a:xfrm>
            <a:off x="640080" y="594360"/>
            <a:ext cx="753122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rPr lang="pt-BR" dirty="0">
                <a:latin typeface="Aharoni" panose="02010803020104030203" pitchFamily="2" charset="-79"/>
                <a:cs typeface="Aharoni" panose="02010803020104030203" pitchFamily="2" charset="-79"/>
              </a:rPr>
              <a:t>IMAGEM COLORIDA = 3 MATRIZES ALINHADAS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52D322-D11D-28C6-9150-26E35B5B9694}"/>
              </a:ext>
            </a:extLst>
          </p:cNvPr>
          <p:cNvSpPr txBox="1"/>
          <p:nvPr/>
        </p:nvSpPr>
        <p:spPr>
          <a:xfrm>
            <a:off x="0" y="3228945"/>
            <a:ext cx="3579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rPr sz="2400" dirty="0">
                <a:latin typeface="Aharoni" panose="02010803020104030203" pitchFamily="2" charset="-79"/>
                <a:cs typeface="Aharoni" panose="02010803020104030203" pitchFamily="2" charset="-79"/>
              </a:rPr>
              <a:t>→ </a:t>
            </a:r>
            <a:r>
              <a:rPr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cor</a:t>
            </a:r>
            <a:r>
              <a:rPr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na</a:t>
            </a:r>
            <a:r>
              <a:rPr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tela</a:t>
            </a:r>
            <a:endParaRPr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71C8C9-A207-A034-E5CA-2648EBCA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114" y="1158335"/>
            <a:ext cx="5033772" cy="503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0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2319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72DB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ÁLGEBRA LINEAR · CIÊNCIA DA COMPUTAÇÃO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71881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rPr lang="pt-BR" dirty="0">
                <a:latin typeface="Aharoni" panose="02010803020104030203" pitchFamily="2" charset="-79"/>
                <a:cs typeface="Aharoni" panose="02010803020104030203" pitchFamily="2" charset="-79"/>
              </a:rPr>
              <a:t>OPERAÇÕES DE MATRIZ → EFEITO VISUAL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2044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72DB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Original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</a:defRPr>
            </a:pPr>
            <a:r>
              <a:rPr>
                <a:latin typeface="Abadi" panose="020B0604020104020204" pitchFamily="34" charset="0"/>
              </a:rPr>
              <a:t>matriz R</a:t>
            </a:r>
          </a:p>
        </p:txBody>
      </p:sp>
      <p:pic>
        <p:nvPicPr>
          <p:cNvPr id="7" name="Picture 6" descr="grid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288036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371600"/>
            <a:ext cx="352044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5087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72DB"/>
                </a:solidFill>
              </a:defRPr>
            </a:pP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Transposta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Rᵀ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</a:defRPr>
            </a:pPr>
            <a:r>
              <a:rPr>
                <a:latin typeface="Abadi" panose="020B0604020104020204" pitchFamily="34" charset="0"/>
              </a:rPr>
              <a:t>linhas ↔ colunas</a:t>
            </a:r>
          </a:p>
        </p:txBody>
      </p:sp>
      <p:pic>
        <p:nvPicPr>
          <p:cNvPr id="11" name="Picture 10" descr="grid_r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240280"/>
            <a:ext cx="2880360" cy="2880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18120" y="1371600"/>
            <a:ext cx="352044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15087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72DB"/>
                </a:solidFill>
              </a:defRPr>
            </a:pPr>
            <a:r>
              <a:rPr>
                <a:latin typeface="Aharoni" panose="02010803020104030203" pitchFamily="2" charset="-79"/>
                <a:cs typeface="Aharoni" panose="02010803020104030203" pitchFamily="2" charset="-79"/>
              </a:rPr>
              <a:t>Escalar 0,5·R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182880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</a:defRPr>
            </a:pPr>
            <a:r>
              <a:rPr dirty="0" err="1">
                <a:latin typeface="Abadi" panose="020B0604020104020204" pitchFamily="34" charset="0"/>
              </a:rPr>
              <a:t>contraste</a:t>
            </a:r>
            <a:r>
              <a:rPr dirty="0">
                <a:latin typeface="Abadi" panose="020B0604020104020204" pitchFamily="34" charset="0"/>
              </a:rPr>
              <a:t> ↓</a:t>
            </a:r>
          </a:p>
        </p:txBody>
      </p:sp>
      <p:pic>
        <p:nvPicPr>
          <p:cNvPr id="15" name="Picture 14" descr="grid_r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240280"/>
            <a:ext cx="2880360" cy="2880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644652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</a:defRPr>
            </a:pPr>
            <a:r>
              <a:rPr dirty="0" err="1">
                <a:latin typeface="Abadi" panose="020B0604020104020204" pitchFamily="34" charset="0"/>
                <a:cs typeface="Aharoni" panose="02010803020104030203" pitchFamily="2" charset="-79"/>
              </a:rPr>
              <a:t>Transposta</a:t>
            </a:r>
            <a:r>
              <a:rPr dirty="0">
                <a:latin typeface="Abadi" panose="020B0604020104020204" pitchFamily="34" charset="0"/>
                <a:cs typeface="Aharoni" panose="02010803020104030203" pitchFamily="2" charset="-79"/>
              </a:rPr>
              <a:t> </a:t>
            </a:r>
            <a:r>
              <a:rPr dirty="0" err="1">
                <a:latin typeface="Abadi" panose="020B0604020104020204" pitchFamily="34" charset="0"/>
                <a:cs typeface="Aharoni" panose="02010803020104030203" pitchFamily="2" charset="-79"/>
              </a:rPr>
              <a:t>espelha</a:t>
            </a:r>
            <a:r>
              <a:rPr dirty="0">
                <a:latin typeface="Abadi" panose="020B0604020104020204" pitchFamily="34" charset="0"/>
                <a:cs typeface="Aharoni" panose="02010803020104030203" pitchFamily="2" charset="-79"/>
              </a:rPr>
              <a:t>; </a:t>
            </a:r>
            <a:r>
              <a:rPr dirty="0" err="1">
                <a:latin typeface="Abadi" panose="020B0604020104020204" pitchFamily="34" charset="0"/>
                <a:cs typeface="Aharoni" panose="02010803020104030203" pitchFamily="2" charset="-79"/>
              </a:rPr>
              <a:t>escalar</a:t>
            </a:r>
            <a:r>
              <a:rPr dirty="0">
                <a:latin typeface="Abadi" panose="020B0604020104020204" pitchFamily="34" charset="0"/>
                <a:cs typeface="Aharoni" panose="02010803020104030203" pitchFamily="2" charset="-79"/>
              </a:rPr>
              <a:t> </a:t>
            </a:r>
            <a:r>
              <a:rPr dirty="0" err="1">
                <a:latin typeface="Abadi" panose="020B0604020104020204" pitchFamily="34" charset="0"/>
                <a:cs typeface="Aharoni" panose="02010803020104030203" pitchFamily="2" charset="-79"/>
              </a:rPr>
              <a:t>escurece</a:t>
            </a:r>
            <a:r>
              <a:rPr dirty="0">
                <a:latin typeface="Abadi" panose="020B0604020104020204" pitchFamily="34" charset="0"/>
                <a:cs typeface="Aharoni" panose="02010803020104030203" pitchFamily="2" charset="-79"/>
              </a:rPr>
              <a:t>/</a:t>
            </a:r>
            <a:r>
              <a:rPr dirty="0" err="1">
                <a:latin typeface="Abadi" panose="020B0604020104020204" pitchFamily="34" charset="0"/>
                <a:cs typeface="Aharoni" panose="02010803020104030203" pitchFamily="2" charset="-79"/>
              </a:rPr>
              <a:t>clareia</a:t>
            </a:r>
            <a:r>
              <a:rPr dirty="0">
                <a:latin typeface="Abadi" panose="020B0604020104020204" pitchFamily="34" charset="0"/>
                <a:cs typeface="Aharoni" panose="02010803020104030203" pitchFamily="2" charset="-79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2319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72DB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ÁLGEBRA LINEAR · CIÊNCIA DA COMPUTAÇÃO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63097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rPr lang="pt-BR" dirty="0">
                <a:latin typeface="Aharoni" panose="02010803020104030203" pitchFamily="2" charset="-79"/>
                <a:cs typeface="Aharoni" panose="02010803020104030203" pitchFamily="2" charset="-79"/>
              </a:rPr>
              <a:t>SISTEMA LINEAR: RECUPERAR R, G, 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3728"/>
            <a:ext cx="4937760" cy="494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F2043"/>
                </a:solidFill>
                <a:latin typeface="Calibri"/>
              </a:defRPr>
            </a:pPr>
            <a:r>
              <a:rPr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Medições</a:t>
            </a:r>
            <a:r>
              <a:rPr sz="16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misturadas</a:t>
            </a:r>
            <a:endParaRPr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>
              <a:spcAft>
                <a:spcPts val="400"/>
              </a:spcAft>
              <a:defRPr sz="1600" b="0">
                <a:solidFill>
                  <a:srgbClr val="212529"/>
                </a:solidFill>
                <a:latin typeface="Consolas"/>
              </a:defRPr>
            </a:pPr>
            <a:r>
              <a:rPr dirty="0"/>
              <a:t>R </a:t>
            </a:r>
            <a:r>
              <a:rPr lang="en-US" dirty="0"/>
              <a:t> </a:t>
            </a:r>
            <a:r>
              <a:rPr dirty="0"/>
              <a:t>+ G + B </a:t>
            </a:r>
            <a:r>
              <a:rPr lang="en-US" dirty="0"/>
              <a:t> </a:t>
            </a:r>
            <a:r>
              <a:rPr dirty="0"/>
              <a:t>= 561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212529"/>
                </a:solidFill>
                <a:latin typeface="Consolas"/>
              </a:defRPr>
            </a:pPr>
            <a:r>
              <a:rPr dirty="0"/>
              <a:t>2R + G      = 580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212529"/>
                </a:solidFill>
                <a:latin typeface="Consolas"/>
              </a:defRPr>
            </a:pPr>
            <a:r>
              <a:rPr dirty="0"/>
              <a:t>R </a:t>
            </a:r>
            <a:r>
              <a:rPr lang="en-US" dirty="0"/>
              <a:t>     </a:t>
            </a:r>
            <a:r>
              <a:rPr dirty="0"/>
              <a:t>+</a:t>
            </a:r>
            <a:r>
              <a:rPr lang="en-US" dirty="0"/>
              <a:t> </a:t>
            </a:r>
            <a:r>
              <a:rPr dirty="0"/>
              <a:t>2B = 550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212529"/>
                </a:solidFill>
                <a:latin typeface="Calibri"/>
              </a:defRPr>
            </a:pPr>
            <a:endParaRPr lang="en-US" dirty="0"/>
          </a:p>
          <a:p>
            <a:pPr algn="ctr">
              <a:spcAft>
                <a:spcPts val="400"/>
              </a:spcAft>
              <a:defRPr sz="1700" b="1">
                <a:solidFill>
                  <a:srgbClr val="0F2043"/>
                </a:solidFill>
                <a:latin typeface="Calibri"/>
              </a:defRPr>
            </a:pPr>
            <a:r>
              <a:rPr sz="1600" dirty="0">
                <a:latin typeface="Aharoni" panose="02010803020104030203" pitchFamily="2" charset="-79"/>
                <a:cs typeface="Aharoni" panose="02010803020104030203" pitchFamily="2" charset="-79"/>
              </a:rPr>
              <a:t>Forma A · X = B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212529"/>
                </a:solidFill>
                <a:latin typeface="Consolas"/>
              </a:defRPr>
            </a:pPr>
            <a:r>
              <a:rPr dirty="0"/>
              <a:t>|1 1 1| |R|   |561|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212529"/>
                </a:solidFill>
                <a:latin typeface="Consolas"/>
              </a:defRPr>
            </a:pPr>
            <a:r>
              <a:rPr dirty="0"/>
              <a:t>|2 1 0| |G| = |580|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212529"/>
                </a:solidFill>
                <a:latin typeface="Consolas"/>
              </a:defRPr>
            </a:pPr>
            <a:r>
              <a:rPr dirty="0"/>
              <a:t>|1 0 2| |B|   |550|</a:t>
            </a:r>
          </a:p>
          <a:p>
            <a:pPr>
              <a:spcAft>
                <a:spcPts val="400"/>
              </a:spcAft>
              <a:defRPr sz="800" b="0">
                <a:solidFill>
                  <a:srgbClr val="212529"/>
                </a:solidFill>
                <a:latin typeface="Calibri"/>
              </a:defRPr>
            </a:pPr>
            <a:endParaRPr lang="en-US" dirty="0"/>
          </a:p>
          <a:p>
            <a:pPr algn="ctr">
              <a:spcAft>
                <a:spcPts val="400"/>
              </a:spcAft>
              <a:defRPr sz="1700" b="1">
                <a:solidFill>
                  <a:srgbClr val="0F2043"/>
                </a:solidFill>
                <a:latin typeface="Calibri"/>
              </a:defRPr>
            </a:pPr>
            <a:r>
              <a:rPr sz="1600" dirty="0">
                <a:latin typeface="Aharoni" panose="02010803020104030203" pitchFamily="2" charset="-79"/>
                <a:cs typeface="Aharoni" panose="02010803020104030203" pitchFamily="2" charset="-79"/>
              </a:rPr>
              <a:t>Gauss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lvl="0"/>
            <a:r>
              <a:rPr lang="en-US" sz="1400" dirty="0">
                <a:latin typeface="Abadi" panose="020B0604020104020204" pitchFamily="34" charset="0"/>
              </a:rPr>
              <a:t>1. L₂ ← L₂ − 2L₁ → </a:t>
            </a:r>
            <a:r>
              <a:rPr lang="en-US" sz="1400" b="1" dirty="0">
                <a:latin typeface="Consolas" panose="020B0609020204030204" pitchFamily="49" charset="0"/>
              </a:rPr>
              <a:t>[0 −1 −2 |−542]</a:t>
            </a:r>
          </a:p>
          <a:p>
            <a:pPr lvl="0"/>
            <a:r>
              <a:rPr lang="en-US" sz="1400" dirty="0">
                <a:latin typeface="Abadi" panose="020B0604020104020204" pitchFamily="34" charset="0"/>
              </a:rPr>
              <a:t>2. L₃ ← L₃ −  L₁  → </a:t>
            </a:r>
            <a:r>
              <a:rPr lang="en-US" sz="1400" b="1" dirty="0">
                <a:latin typeface="Consolas" panose="020B0609020204030204" pitchFamily="49" charset="0"/>
              </a:rPr>
              <a:t>[0 −1  1 | −11]</a:t>
            </a:r>
          </a:p>
          <a:p>
            <a:pPr lvl="0"/>
            <a:r>
              <a:rPr lang="en-US" sz="1400" dirty="0">
                <a:latin typeface="Abadi" panose="020B0604020104020204" pitchFamily="34" charset="0"/>
              </a:rPr>
              <a:t>3. L₃ ← L₃ −  L₂  → </a:t>
            </a:r>
            <a:r>
              <a:rPr lang="en-US" sz="1400" b="1" dirty="0">
                <a:latin typeface="Consolas" panose="020B0609020204030204" pitchFamily="49" charset="0"/>
              </a:rPr>
              <a:t>[0  0  3 | 531]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Abadi" panose="020B0604020104020204" pitchFamily="34" charset="0"/>
              </a:rPr>
              <a:t>→ </a:t>
            </a:r>
            <a:r>
              <a:rPr lang="en-US" sz="1400" b="1" dirty="0">
                <a:solidFill>
                  <a:srgbClr val="2850B1"/>
                </a:solidFill>
                <a:latin typeface="Abadi" panose="020B0604020104020204" pitchFamily="34" charset="0"/>
              </a:rPr>
              <a:t>B = 531/3 = 177</a:t>
            </a:r>
            <a:endParaRPr lang="en-US" sz="1400" dirty="0">
              <a:solidFill>
                <a:srgbClr val="2850B1"/>
              </a:solidFill>
              <a:latin typeface="Abadi" panose="020B0604020104020204" pitchFamily="34" charset="0"/>
            </a:endParaRPr>
          </a:p>
          <a:p>
            <a:pPr lvl="0"/>
            <a:r>
              <a:rPr lang="en-US" sz="1400" dirty="0">
                <a:latin typeface="Abadi" panose="020B0604020104020204" pitchFamily="34" charset="0"/>
              </a:rPr>
              <a:t>4. Em L₂: −G − 2·177 = −542 → −G = −188 → </a:t>
            </a:r>
            <a:r>
              <a:rPr lang="en-US" sz="1400" b="1" dirty="0">
                <a:solidFill>
                  <a:srgbClr val="28BC28"/>
                </a:solidFill>
                <a:latin typeface="Abadi" panose="020B0604020104020204" pitchFamily="34" charset="0"/>
              </a:rPr>
              <a:t>G = 188</a:t>
            </a:r>
            <a:endParaRPr lang="en-US" sz="1400" dirty="0">
              <a:solidFill>
                <a:srgbClr val="28BC28"/>
              </a:solidFill>
              <a:latin typeface="Abadi" panose="020B0604020104020204" pitchFamily="34" charset="0"/>
            </a:endParaRPr>
          </a:p>
          <a:p>
            <a:pPr lvl="0"/>
            <a:r>
              <a:rPr lang="en-US" sz="1400" dirty="0">
                <a:latin typeface="Abadi" panose="020B0604020104020204" pitchFamily="34" charset="0"/>
              </a:rPr>
              <a:t>5. Em L₁: R + 188 + 177 = 561 → </a:t>
            </a:r>
            <a:r>
              <a:rPr lang="en-US" sz="1400" b="1" dirty="0">
                <a:solidFill>
                  <a:srgbClr val="C42828"/>
                </a:solidFill>
                <a:latin typeface="Abadi" panose="020B0604020104020204" pitchFamily="34" charset="0"/>
              </a:rPr>
              <a:t>R = 196</a:t>
            </a:r>
            <a:endParaRPr lang="en-US" sz="1400" dirty="0">
              <a:solidFill>
                <a:srgbClr val="C42828"/>
              </a:solidFill>
              <a:latin typeface="Abadi" panose="020B0604020104020204" pitchFamily="34" charset="0"/>
            </a:endParaRPr>
          </a:p>
          <a:p>
            <a:pPr algn="ctr">
              <a:spcAft>
                <a:spcPts val="400"/>
              </a:spcAft>
              <a:defRPr sz="1700" b="1">
                <a:solidFill>
                  <a:srgbClr val="0F2043"/>
                </a:solidFill>
                <a:latin typeface="Calibri"/>
              </a:defRPr>
            </a:pPr>
            <a:r>
              <a:rPr lang="en-US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Resumo</a:t>
            </a:r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  <a:endParaRPr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>
              <a:spcAft>
                <a:spcPts val="400"/>
              </a:spcAft>
              <a:defRPr sz="1300" b="0">
                <a:solidFill>
                  <a:srgbClr val="212529"/>
                </a:solidFill>
                <a:latin typeface="Consolas"/>
              </a:defRPr>
            </a:pPr>
            <a:r>
              <a:rPr dirty="0">
                <a:latin typeface="Abadi" panose="020B0604020104020204" pitchFamily="34" charset="0"/>
              </a:rPr>
              <a:t>L₂←L₂−2L₁ · L₃←L₃−L₁ · L₃←L₃−L₂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1E72DB"/>
                </a:solidFill>
                <a:latin typeface="Calibri"/>
              </a:defRPr>
            </a:pPr>
            <a:r>
              <a:rPr dirty="0">
                <a:latin typeface="Abadi" panose="020B0604020104020204" pitchFamily="34" charset="0"/>
              </a:rPr>
              <a:t>→ B=177 → G=188 → R=196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50292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Solução = cores do pixel</a:t>
            </a:r>
          </a:p>
        </p:txBody>
      </p:sp>
      <p:pic>
        <p:nvPicPr>
          <p:cNvPr id="8" name="Picture 7" descr="swatch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4249"/>
            <a:ext cx="1554480" cy="1554480"/>
          </a:xfrm>
          <a:prstGeom prst="rect">
            <a:avLst/>
          </a:prstGeom>
        </p:spPr>
      </p:pic>
      <p:pic>
        <p:nvPicPr>
          <p:cNvPr id="9" name="Picture 8" descr="swatch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84249"/>
            <a:ext cx="1554480" cy="1554480"/>
          </a:xfrm>
          <a:prstGeom prst="rect">
            <a:avLst/>
          </a:prstGeom>
        </p:spPr>
      </p:pic>
      <p:pic>
        <p:nvPicPr>
          <p:cNvPr id="10" name="Picture 9" descr="swatch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1984249"/>
            <a:ext cx="1554480" cy="1554480"/>
          </a:xfrm>
          <a:prstGeom prst="rect">
            <a:avLst/>
          </a:prstGeom>
        </p:spPr>
      </p:pic>
      <p:pic>
        <p:nvPicPr>
          <p:cNvPr id="11" name="Picture 10" descr="swatch_pix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3840481"/>
            <a:ext cx="2194560" cy="2194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98932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72DB"/>
                </a:solidFill>
              </a:defRPr>
            </a:pPr>
            <a:r>
              <a:rPr dirty="0">
                <a:latin typeface="Abadi" panose="020B0604020104020204" pitchFamily="34" charset="0"/>
              </a:rPr>
              <a:t>Conferência: 2·196 + 188 = 580 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887B8C-6F6C-DAB3-7CEB-3556AD947BDA}"/>
              </a:ext>
            </a:extLst>
          </p:cNvPr>
          <p:cNvSpPr txBox="1"/>
          <p:nvPr/>
        </p:nvSpPr>
        <p:spPr>
          <a:xfrm>
            <a:off x="9966960" y="2416018"/>
            <a:ext cx="131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2850C8"/>
                </a:solidFill>
              </a:defRPr>
            </a:pPr>
            <a:r>
              <a:rPr lang="en-US" sz="1800" dirty="0">
                <a:solidFill>
                  <a:schemeClr val="bg1"/>
                </a:solidFill>
                <a:latin typeface="Abadi" panose="020B0604020104020204" pitchFamily="34" charset="0"/>
              </a:rPr>
              <a:t>B = 177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C3EF9C-CF32-604D-3A52-0661F0E6F348}"/>
              </a:ext>
            </a:extLst>
          </p:cNvPr>
          <p:cNvSpPr txBox="1"/>
          <p:nvPr/>
        </p:nvSpPr>
        <p:spPr>
          <a:xfrm>
            <a:off x="8229601" y="2414758"/>
            <a:ext cx="1371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2850C8"/>
                </a:solidFill>
              </a:defRPr>
            </a:pPr>
            <a:r>
              <a:rPr lang="en-US" sz="1800" dirty="0">
                <a:solidFill>
                  <a:schemeClr val="bg1"/>
                </a:solidFill>
                <a:latin typeface="Abadi" panose="020B0604020104020204" pitchFamily="34" charset="0"/>
              </a:rPr>
              <a:t>G = 188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FB01A6-5652-E1D6-B885-E12FDDAA1E5B}"/>
              </a:ext>
            </a:extLst>
          </p:cNvPr>
          <p:cNvSpPr txBox="1"/>
          <p:nvPr/>
        </p:nvSpPr>
        <p:spPr>
          <a:xfrm>
            <a:off x="6492051" y="2414758"/>
            <a:ext cx="1371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2850C8"/>
                </a:solidFill>
              </a:defRPr>
            </a:pPr>
            <a:r>
              <a:rPr lang="en-US" sz="1800" dirty="0">
                <a:solidFill>
                  <a:schemeClr val="bg1"/>
                </a:solidFill>
                <a:latin typeface="Abadi" panose="020B0604020104020204" pitchFamily="34" charset="0"/>
              </a:rPr>
              <a:t>R = 196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5AFF7-1A40-A7F8-B17B-DBAEA80C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236719-F00A-AD16-9FAD-82559B1C310A}"/>
              </a:ext>
            </a:extLst>
          </p:cNvPr>
          <p:cNvSpPr txBox="1"/>
          <p:nvPr/>
        </p:nvSpPr>
        <p:spPr>
          <a:xfrm>
            <a:off x="640080" y="320040"/>
            <a:ext cx="32319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72DB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ÁLGEBRA LINEAR · CIÊNCIA DA COMPUTAÇÃO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E3A44D-D3CE-CDAC-F6DD-FD6B624C9E16}"/>
              </a:ext>
            </a:extLst>
          </p:cNvPr>
          <p:cNvSpPr txBox="1"/>
          <p:nvPr/>
        </p:nvSpPr>
        <p:spPr>
          <a:xfrm>
            <a:off x="640080" y="594360"/>
            <a:ext cx="63097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rPr lang="pt-BR" dirty="0">
                <a:latin typeface="Aharoni" panose="02010803020104030203" pitchFamily="2" charset="-79"/>
                <a:cs typeface="Aharoni" panose="02010803020104030203" pitchFamily="2" charset="-79"/>
              </a:rPr>
              <a:t>SISTEMA LINEAR: RECUPERAR R, G, B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94BAD18-E4FA-76AD-1816-FAE9A83CC878}"/>
              </a:ext>
            </a:extLst>
          </p:cNvPr>
          <p:cNvSpPr/>
          <p:nvPr/>
        </p:nvSpPr>
        <p:spPr>
          <a:xfrm>
            <a:off x="548640" y="1371600"/>
            <a:ext cx="5394960" cy="50292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928B01-B0C5-6834-D10C-ABD2CEEF3320}"/>
              </a:ext>
            </a:extLst>
          </p:cNvPr>
          <p:cNvSpPr/>
          <p:nvPr/>
        </p:nvSpPr>
        <p:spPr>
          <a:xfrm>
            <a:off x="6217920" y="1371600"/>
            <a:ext cx="5394960" cy="50292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B1959-CF37-D2A2-61BC-441CE33D5D31}"/>
              </a:ext>
            </a:extLst>
          </p:cNvPr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Solução = cores do pixel</a:t>
            </a:r>
          </a:p>
        </p:txBody>
      </p:sp>
      <p:pic>
        <p:nvPicPr>
          <p:cNvPr id="8" name="Picture 7" descr="swatch_r.png">
            <a:extLst>
              <a:ext uri="{FF2B5EF4-FFF2-40B4-BE49-F238E27FC236}">
                <a16:creationId xmlns:a16="http://schemas.microsoft.com/office/drawing/2014/main" id="{61B0DA62-5339-E570-4B12-BCF90826A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4249"/>
            <a:ext cx="1554480" cy="1554480"/>
          </a:xfrm>
          <a:prstGeom prst="rect">
            <a:avLst/>
          </a:prstGeom>
        </p:spPr>
      </p:pic>
      <p:pic>
        <p:nvPicPr>
          <p:cNvPr id="9" name="Picture 8" descr="swatch_g.png">
            <a:extLst>
              <a:ext uri="{FF2B5EF4-FFF2-40B4-BE49-F238E27FC236}">
                <a16:creationId xmlns:a16="http://schemas.microsoft.com/office/drawing/2014/main" id="{22E8AEFA-81A7-80E8-FAF4-64C2A4754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84249"/>
            <a:ext cx="1554480" cy="1554480"/>
          </a:xfrm>
          <a:prstGeom prst="rect">
            <a:avLst/>
          </a:prstGeom>
        </p:spPr>
      </p:pic>
      <p:pic>
        <p:nvPicPr>
          <p:cNvPr id="10" name="Picture 9" descr="swatch_b.png">
            <a:extLst>
              <a:ext uri="{FF2B5EF4-FFF2-40B4-BE49-F238E27FC236}">
                <a16:creationId xmlns:a16="http://schemas.microsoft.com/office/drawing/2014/main" id="{1DAEEC3E-A904-1E02-37E9-8EB5A7958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1984249"/>
            <a:ext cx="1554480" cy="1554480"/>
          </a:xfrm>
          <a:prstGeom prst="rect">
            <a:avLst/>
          </a:prstGeom>
        </p:spPr>
      </p:pic>
      <p:pic>
        <p:nvPicPr>
          <p:cNvPr id="11" name="Picture 10" descr="swatch_pixel.png">
            <a:extLst>
              <a:ext uri="{FF2B5EF4-FFF2-40B4-BE49-F238E27FC236}">
                <a16:creationId xmlns:a16="http://schemas.microsoft.com/office/drawing/2014/main" id="{0CB1E583-63F5-7D24-E715-BEBDBEA18C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3840481"/>
            <a:ext cx="2194560" cy="21945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43AB71-2404-68DE-7531-F35E8F13DC7A}"/>
              </a:ext>
            </a:extLst>
          </p:cNvPr>
          <p:cNvSpPr txBox="1"/>
          <p:nvPr/>
        </p:nvSpPr>
        <p:spPr>
          <a:xfrm>
            <a:off x="6400800" y="598932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72DB"/>
                </a:solidFill>
              </a:defRPr>
            </a:pPr>
            <a:r>
              <a:rPr dirty="0">
                <a:latin typeface="Abadi" panose="020B0604020104020204" pitchFamily="34" charset="0"/>
              </a:rPr>
              <a:t>Conferência: 2·196 + 188 = 580 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F7DCB2-A07C-789C-9089-A1CB723E2274}"/>
              </a:ext>
            </a:extLst>
          </p:cNvPr>
          <p:cNvSpPr txBox="1"/>
          <p:nvPr/>
        </p:nvSpPr>
        <p:spPr>
          <a:xfrm>
            <a:off x="9966960" y="2416018"/>
            <a:ext cx="131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2850C8"/>
                </a:solidFill>
              </a:defRPr>
            </a:pPr>
            <a:r>
              <a:rPr lang="en-US" sz="1800" dirty="0">
                <a:solidFill>
                  <a:schemeClr val="bg1"/>
                </a:solidFill>
                <a:latin typeface="Abadi" panose="020B0604020104020204" pitchFamily="34" charset="0"/>
              </a:rPr>
              <a:t>B = 177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B7EDB5-E5C4-3331-EE74-7B63F08A8A83}"/>
              </a:ext>
            </a:extLst>
          </p:cNvPr>
          <p:cNvSpPr txBox="1"/>
          <p:nvPr/>
        </p:nvSpPr>
        <p:spPr>
          <a:xfrm>
            <a:off x="8229601" y="2414758"/>
            <a:ext cx="1371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2850C8"/>
                </a:solidFill>
              </a:defRPr>
            </a:pPr>
            <a:r>
              <a:rPr lang="en-US" sz="1800" dirty="0">
                <a:solidFill>
                  <a:schemeClr val="bg1"/>
                </a:solidFill>
                <a:latin typeface="Abadi" panose="020B0604020104020204" pitchFamily="34" charset="0"/>
              </a:rPr>
              <a:t>G = 188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50651C-D7E8-2674-309F-5D0A0387B21A}"/>
              </a:ext>
            </a:extLst>
          </p:cNvPr>
          <p:cNvSpPr txBox="1"/>
          <p:nvPr/>
        </p:nvSpPr>
        <p:spPr>
          <a:xfrm>
            <a:off x="6492051" y="2414758"/>
            <a:ext cx="1371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2850C8"/>
                </a:solidFill>
              </a:defRPr>
            </a:pPr>
            <a:r>
              <a:rPr lang="en-US" sz="1800" dirty="0">
                <a:solidFill>
                  <a:schemeClr val="bg1"/>
                </a:solidFill>
                <a:latin typeface="Abadi" panose="020B0604020104020204" pitchFamily="34" charset="0"/>
              </a:rPr>
              <a:t>R = 196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9B3299-BFED-1B5F-5547-A3E52673CF7A}"/>
              </a:ext>
            </a:extLst>
          </p:cNvPr>
          <p:cNvSpPr txBox="1"/>
          <p:nvPr/>
        </p:nvSpPr>
        <p:spPr>
          <a:xfrm>
            <a:off x="886968" y="2717096"/>
            <a:ext cx="47183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badi" panose="020B0604020104020204" pitchFamily="34" charset="0"/>
              </a:rPr>
              <a:t>“No </a:t>
            </a:r>
            <a:r>
              <a:rPr lang="en-US" sz="2000" dirty="0" err="1">
                <a:latin typeface="Abadi" panose="020B0604020104020204" pitchFamily="34" charset="0"/>
              </a:rPr>
              <a:t>computador</a:t>
            </a:r>
            <a:r>
              <a:rPr lang="en-US" sz="2000" dirty="0">
                <a:latin typeface="Abadi" panose="020B0604020104020204" pitchFamily="34" charset="0"/>
              </a:rPr>
              <a:t> o pixel </a:t>
            </a:r>
            <a:r>
              <a:rPr lang="en-US" sz="2000" dirty="0" err="1">
                <a:latin typeface="Abadi" panose="020B0604020104020204" pitchFamily="34" charset="0"/>
              </a:rPr>
              <a:t>já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vem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como</a:t>
            </a:r>
            <a:r>
              <a:rPr lang="en-US" sz="2000" dirty="0">
                <a:latin typeface="Abadi" panose="020B0604020104020204" pitchFamily="34" charset="0"/>
              </a:rPr>
              <a:t> R, G e B. O </a:t>
            </a:r>
            <a:r>
              <a:rPr lang="en-US" sz="2000" dirty="0" err="1">
                <a:latin typeface="Abadi" panose="020B0604020104020204" pitchFamily="34" charset="0"/>
              </a:rPr>
              <a:t>sistema</a:t>
            </a:r>
            <a:r>
              <a:rPr lang="en-US" sz="2000" dirty="0">
                <a:latin typeface="Abadi" panose="020B0604020104020204" pitchFamily="34" charset="0"/>
              </a:rPr>
              <a:t> linear </a:t>
            </a:r>
            <a:r>
              <a:rPr lang="en-US" sz="2000" dirty="0" err="1">
                <a:latin typeface="Abadi" panose="020B0604020104020204" pitchFamily="34" charset="0"/>
              </a:rPr>
              <a:t>aparece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quando</a:t>
            </a:r>
            <a:r>
              <a:rPr lang="en-US" sz="2000" dirty="0">
                <a:latin typeface="Abadi" panose="020B0604020104020204" pitchFamily="34" charset="0"/>
              </a:rPr>
              <a:t> as </a:t>
            </a:r>
            <a:r>
              <a:rPr lang="en-US" sz="2000" dirty="0" err="1">
                <a:latin typeface="Abadi" panose="020B0604020104020204" pitchFamily="34" charset="0"/>
              </a:rPr>
              <a:t>medições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vêm</a:t>
            </a:r>
            <a:r>
              <a:rPr lang="en-US" sz="2000" dirty="0">
                <a:latin typeface="Abadi" panose="020B0604020104020204" pitchFamily="34" charset="0"/>
              </a:rPr>
              <a:t> </a:t>
            </a:r>
            <a:r>
              <a:rPr lang="en-US" sz="2000" dirty="0" err="1">
                <a:latin typeface="Abadi" panose="020B0604020104020204" pitchFamily="34" charset="0"/>
              </a:rPr>
              <a:t>misturadas</a:t>
            </a:r>
            <a:r>
              <a:rPr lang="en-US" sz="2000" dirty="0">
                <a:latin typeface="Abadi" panose="020B0604020104020204" pitchFamily="34" charset="0"/>
              </a:rPr>
              <a:t> — </a:t>
            </a:r>
            <a:r>
              <a:rPr lang="en-US" sz="2000" dirty="0" err="1">
                <a:latin typeface="Abadi" panose="020B0604020104020204" pitchFamily="34" charset="0"/>
              </a:rPr>
              <a:t>por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exemplo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separação</a:t>
            </a:r>
            <a:r>
              <a:rPr lang="en-US" sz="2000" dirty="0">
                <a:latin typeface="Abadi" panose="020B0604020104020204" pitchFamily="34" charset="0"/>
              </a:rPr>
              <a:t> de </a:t>
            </a:r>
            <a:r>
              <a:rPr lang="en-US" sz="2000" dirty="0" err="1">
                <a:latin typeface="Abadi" panose="020B0604020104020204" pitchFamily="34" charset="0"/>
              </a:rPr>
              <a:t>canais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em</a:t>
            </a:r>
            <a:r>
              <a:rPr lang="en-US" sz="2000" dirty="0">
                <a:latin typeface="Abadi" panose="020B0604020104020204" pitchFamily="34" charset="0"/>
              </a:rPr>
              <a:t> imagens </a:t>
            </a:r>
            <a:r>
              <a:rPr lang="en-US" sz="2000" dirty="0" err="1">
                <a:latin typeface="Abadi" panose="020B0604020104020204" pitchFamily="34" charset="0"/>
              </a:rPr>
              <a:t>científicas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ou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calibração</a:t>
            </a:r>
            <a:r>
              <a:rPr lang="en-US" sz="2000" dirty="0">
                <a:latin typeface="Abadi" panose="020B0604020104020204" pitchFamily="34" charset="0"/>
              </a:rPr>
              <a:t> de cor. O </a:t>
            </a:r>
            <a:r>
              <a:rPr lang="en-US" sz="2000" dirty="0" err="1">
                <a:latin typeface="Abadi" panose="020B0604020104020204" pitchFamily="34" charset="0"/>
              </a:rPr>
              <a:t>exemplo</a:t>
            </a:r>
            <a:r>
              <a:rPr lang="en-US" sz="2000" dirty="0">
                <a:latin typeface="Abadi" panose="020B0604020104020204" pitchFamily="34" charset="0"/>
              </a:rPr>
              <a:t> é esse </a:t>
            </a:r>
            <a:r>
              <a:rPr lang="en-US" sz="2000" dirty="0" err="1">
                <a:latin typeface="Abadi" panose="020B0604020104020204" pitchFamily="34" charset="0"/>
              </a:rPr>
              <a:t>caso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em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miniatura</a:t>
            </a:r>
            <a:r>
              <a:rPr lang="en-US" sz="2000" dirty="0">
                <a:latin typeface="Abadi" panose="020B0604020104020204" pitchFamily="34" charset="0"/>
              </a:rPr>
              <a:t>: 3 </a:t>
            </a:r>
            <a:r>
              <a:rPr lang="en-US" sz="2000" dirty="0" err="1">
                <a:latin typeface="Abadi" panose="020B0604020104020204" pitchFamily="34" charset="0"/>
              </a:rPr>
              <a:t>equações</a:t>
            </a:r>
            <a:r>
              <a:rPr lang="en-US" sz="2000" dirty="0">
                <a:latin typeface="Abadi" panose="020B0604020104020204" pitchFamily="34" charset="0"/>
              </a:rPr>
              <a:t> para </a:t>
            </a:r>
            <a:r>
              <a:rPr lang="en-US" sz="2000" dirty="0" err="1">
                <a:latin typeface="Abadi" panose="020B0604020104020204" pitchFamily="34" charset="0"/>
              </a:rPr>
              <a:t>recuperar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os</a:t>
            </a:r>
            <a:r>
              <a:rPr lang="en-US" sz="2000" dirty="0">
                <a:latin typeface="Abadi" panose="020B0604020104020204" pitchFamily="34" charset="0"/>
              </a:rPr>
              <a:t> 3 </a:t>
            </a:r>
            <a:r>
              <a:rPr lang="en-US" sz="2000" dirty="0" err="1">
                <a:latin typeface="Abadi" panose="020B0604020104020204" pitchFamily="34" charset="0"/>
              </a:rPr>
              <a:t>canais</a:t>
            </a:r>
            <a:r>
              <a:rPr lang="en-US" sz="2000" dirty="0">
                <a:latin typeface="Abadi" panose="020B0604020104020204" pitchFamily="34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411328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2319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72DB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ÁLGEBRA LINEAR · CIÊNCIA DA COMPUTAÇÃO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3711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CONCLUSÃO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6616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7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rid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78308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749039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1.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Imagem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=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matriz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</a:defRPr>
            </a:pPr>
            <a:r>
              <a:rPr sz="1600" dirty="0">
                <a:latin typeface="Abadi" panose="020B0604020104020204" pitchFamily="34" charset="0"/>
              </a:rPr>
              <a:t>Pixels </a:t>
            </a:r>
            <a:r>
              <a:rPr sz="1600" dirty="0" err="1">
                <a:latin typeface="Abadi" panose="020B0604020104020204" pitchFamily="34" charset="0"/>
              </a:rPr>
              <a:t>são</a:t>
            </a:r>
            <a:r>
              <a:rPr sz="1600" dirty="0">
                <a:latin typeface="Abadi" panose="020B0604020104020204" pitchFamily="34" charset="0"/>
              </a:rPr>
              <a:t> entradas </a:t>
            </a:r>
            <a:r>
              <a:rPr sz="1600" dirty="0" err="1">
                <a:latin typeface="Abadi" panose="020B0604020104020204" pitchFamily="34" charset="0"/>
              </a:rPr>
              <a:t>numéricas</a:t>
            </a:r>
            <a:r>
              <a:rPr sz="1600" dirty="0">
                <a:latin typeface="Abadi" panose="020B0604020104020204" pitchFamily="34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56616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grid_r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783080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7720" y="3749039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2.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Operações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=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efeitos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17720" y="416052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</a:defRPr>
            </a:pPr>
            <a:r>
              <a:rPr sz="1600" dirty="0" err="1">
                <a:latin typeface="Abadi" panose="020B0604020104020204" pitchFamily="34" charset="0"/>
              </a:rPr>
              <a:t>Transposta</a:t>
            </a:r>
            <a:r>
              <a:rPr sz="1600" dirty="0">
                <a:latin typeface="Abadi" panose="020B0604020104020204" pitchFamily="34" charset="0"/>
              </a:rPr>
              <a:t> e </a:t>
            </a:r>
            <a:r>
              <a:rPr sz="1600" dirty="0" err="1">
                <a:latin typeface="Abadi" panose="020B0604020104020204" pitchFamily="34" charset="0"/>
              </a:rPr>
              <a:t>escalar</a:t>
            </a:r>
            <a:r>
              <a:rPr sz="1600" dirty="0">
                <a:latin typeface="Abadi" panose="020B0604020104020204" pitchFamily="34" charset="0"/>
              </a:rPr>
              <a:t> </a:t>
            </a:r>
            <a:r>
              <a:rPr sz="1600" dirty="0" err="1">
                <a:latin typeface="Abadi" panose="020B0604020104020204" pitchFamily="34" charset="0"/>
              </a:rPr>
              <a:t>mudam</a:t>
            </a:r>
            <a:r>
              <a:rPr sz="1600" dirty="0">
                <a:latin typeface="Abadi" panose="020B0604020104020204" pitchFamily="34" charset="0"/>
              </a:rPr>
              <a:t> a </a:t>
            </a:r>
            <a:r>
              <a:rPr sz="1600" dirty="0" err="1">
                <a:latin typeface="Abadi" panose="020B0604020104020204" pitchFamily="34" charset="0"/>
              </a:rPr>
              <a:t>imagem</a:t>
            </a:r>
            <a:r>
              <a:rPr sz="1600" dirty="0">
                <a:latin typeface="Abadi" panose="020B0604020104020204" pitchFamily="34" charset="0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56616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watch_pix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783080"/>
            <a:ext cx="18288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3749039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3. Sistema =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recupera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cor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0" y="416052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</a:defRPr>
            </a:pPr>
            <a:r>
              <a:rPr sz="1600" dirty="0">
                <a:latin typeface="Abadi" panose="020B0604020104020204" pitchFamily="34" charset="0"/>
              </a:rPr>
              <a:t>Gauss </a:t>
            </a:r>
            <a:r>
              <a:rPr sz="1600" dirty="0" err="1">
                <a:latin typeface="Abadi" panose="020B0604020104020204" pitchFamily="34" charset="0"/>
              </a:rPr>
              <a:t>separa</a:t>
            </a:r>
            <a:r>
              <a:rPr sz="1600" dirty="0">
                <a:latin typeface="Abadi" panose="020B0604020104020204" pitchFamily="34" charset="0"/>
              </a:rPr>
              <a:t> R, G e B </a:t>
            </a:r>
            <a:r>
              <a:rPr sz="1600" dirty="0" err="1">
                <a:latin typeface="Abadi" panose="020B0604020104020204" pitchFamily="34" charset="0"/>
              </a:rPr>
              <a:t>misturados</a:t>
            </a:r>
            <a:r>
              <a:rPr sz="1600" dirty="0">
                <a:latin typeface="Abadi" panose="020B0604020104020204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604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Abadi</vt:lpstr>
      <vt:lpstr>Aharoni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DBSoftware Servico</cp:lastModifiedBy>
  <cp:revision>4</cp:revision>
  <dcterms:created xsi:type="dcterms:W3CDTF">2013-01-27T09:14:16Z</dcterms:created>
  <dcterms:modified xsi:type="dcterms:W3CDTF">2026-09-18T20:37:09Z</dcterms:modified>
  <cp:category/>
</cp:coreProperties>
</file>