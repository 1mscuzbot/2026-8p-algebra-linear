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188720"/>
            <a:ext cx="694944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0F2043"/>
                </a:solidFill>
              </a:defRPr>
            </a:pPr>
            <a:r>
              <a:t>Matrizes e sistemas lineares</a:t>
            </a:r>
            <a:br/>
            <a:r>
              <a:t>em imagens digitais</a:t>
            </a:r>
          </a:p>
          <a:p>
            <a:pPr>
              <a:spcAft>
                <a:spcPts val="1200"/>
              </a:spcAft>
              <a:defRPr sz="1800" b="1">
                <a:solidFill>
                  <a:srgbClr val="1E72DB"/>
                </a:solidFill>
              </a:defRPr>
            </a:pPr>
            <a:r>
              <a:t>Algebra Linear · Ciencia da Computacao</a:t>
            </a:r>
          </a:p>
          <a:p>
            <a:pPr>
              <a:defRPr sz="1500">
                <a:solidFill>
                  <a:srgbClr val="6C757D"/>
                </a:solidFill>
              </a:defRPr>
            </a:pPr>
            <a:r>
              <a:t>Lucas Muller Scuzziato  ·  18/09/2026</a:t>
            </a:r>
          </a:p>
          <a:p>
            <a:br/>
            <a:pPr>
              <a:defRPr sz="1400">
                <a:solidFill>
                  <a:srgbClr val="6C757D"/>
                </a:solidFill>
              </a:defRPr>
            </a:pPr>
            <a:r>
              <a:t>Ideia-chave: 3 matrizes alinhadas → 1 imagem.</a:t>
            </a:r>
          </a:p>
        </p:txBody>
      </p:sp>
      <p:pic>
        <p:nvPicPr>
          <p:cNvPr id="4" name="Picture 3" descr="cover_mos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72DB"/>
                </a:solidFill>
              </a:defRPr>
            </a:pPr>
            <a:r>
              <a:t>pixels = numeros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t>ALGEBRA LINEAR · CIENCIA DA COMPUTACAO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Imagem colorida = 3 matrizes alinhadas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1155680" cy="1234440"/>
          </a:xfrm>
          <a:prstGeom prst="roundRect">
            <a:avLst/>
          </a:prstGeom>
          <a:solidFill>
            <a:srgbClr val="E6F2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43"/>
                </a:solidFill>
              </a:defRPr>
            </a:pPr>
            <a:r>
              <a:t>Ex.: foto 20×20 → matriz R 20×20 + matriz G 20×20 + matriz B 20×20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Mesma posicao (linha, coluna) nas tres = o mesmo pixel. Na tela, R+G+B daquela casa viram 1 cor.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72DB"/>
                </a:solidFill>
              </a:defRPr>
            </a:pPr>
            <a:r>
              <a:t>R (vermelho)</a:t>
            </a:r>
          </a:p>
        </p:txBody>
      </p:sp>
      <p:pic>
        <p:nvPicPr>
          <p:cNvPr id="7" name="Picture 6" descr="grid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5468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72DB"/>
                </a:solidFill>
              </a:defRPr>
            </a:pPr>
            <a:r>
              <a:t>G (verde)</a:t>
            </a:r>
          </a:p>
        </p:txBody>
      </p:sp>
      <p:pic>
        <p:nvPicPr>
          <p:cNvPr id="9" name="Picture 8" descr="grid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017520"/>
            <a:ext cx="237744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72DB"/>
                </a:solidFill>
              </a:defRPr>
            </a:pPr>
            <a:r>
              <a:t>B (azul)</a:t>
            </a:r>
          </a:p>
        </p:txBody>
      </p:sp>
      <p:pic>
        <p:nvPicPr>
          <p:cNvPr id="11" name="Picture 10" descr="gri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017520"/>
            <a:ext cx="2377440" cy="2377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→ cor na tela</a:t>
            </a:r>
          </a:p>
        </p:txBody>
      </p:sp>
      <p:pic>
        <p:nvPicPr>
          <p:cNvPr id="13" name="Picture 12" descr="grid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017520"/>
            <a:ext cx="2651760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</a:defRPr>
            </a:pPr>
            <a:r>
              <a:t>Abaixo: recorte real 3×3 (mesmo esquema). Nao e bagunca: sao 3 tabelas; a mistura e por pixel.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t>ALGEBRA LINEAR · CIENCIA DA COMPUTACAO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Operacoes de matriz → efeito visual (dia a dia)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204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2DB"/>
                </a:solidFill>
              </a:defRPr>
            </a:pPr>
            <a:r>
              <a:t>Original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</a:defRPr>
            </a:pPr>
            <a:r>
              <a:t>matriz R</a:t>
            </a:r>
          </a:p>
        </p:txBody>
      </p:sp>
      <p:pic>
        <p:nvPicPr>
          <p:cNvPr id="7" name="Picture 6" descr="grid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288036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371600"/>
            <a:ext cx="35204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2DB"/>
                </a:solidFill>
              </a:defRPr>
            </a:pPr>
            <a:r>
              <a:t>Transposta R^T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</a:defRPr>
            </a:pPr>
            <a:r>
              <a:t>linhas ↔ colunas</a:t>
            </a:r>
          </a:p>
        </p:txBody>
      </p:sp>
      <p:pic>
        <p:nvPicPr>
          <p:cNvPr id="11" name="Picture 10" descr="grid_r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40280"/>
            <a:ext cx="2880360" cy="2880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371600"/>
            <a:ext cx="35204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2DB"/>
                </a:solidFill>
              </a:defRPr>
            </a:pPr>
            <a:r>
              <a:t>Escalar 0,5·R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</a:defRPr>
            </a:pPr>
            <a:r>
              <a:t>contraste ↓</a:t>
            </a:r>
          </a:p>
        </p:txBody>
      </p:sp>
      <p:pic>
        <p:nvPicPr>
          <p:cNvPr id="15" name="Picture 14" descr="grid_r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240280"/>
            <a:ext cx="28803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</a:defRPr>
            </a:pPr>
            <a:r>
              <a:t>No codigo: img[y][x]. Transposta espelha; escalar muda o contraste.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t>ALGEBRA LINEAR · CIENCIA DA COMPUTACAO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Sistema linear (exemplo didatico)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0F2043"/>
                </a:solidFill>
                <a:latin typeface="Calibri"/>
              </a:defRPr>
            </a:pPr>
            <a:r>
              <a:t>Exemplo didatico (nao e o fluxo do dia a dia)</a:t>
            </a:r>
          </a:p>
          <a:p>
            <a:pPr>
              <a:spcAft>
                <a:spcPts val="400"/>
              </a:spcAft>
              <a:defRPr b="0" sz="1600">
                <a:solidFill>
                  <a:srgbClr val="212529"/>
                </a:solidFill>
                <a:latin typeface="Consolas"/>
              </a:defRPr>
            </a:pPr>
            <a:r>
              <a:t>R + G + B = 561</a:t>
            </a:r>
          </a:p>
          <a:p>
            <a:pPr>
              <a:spcAft>
                <a:spcPts val="400"/>
              </a:spcAft>
              <a:defRPr b="0" sz="1600">
                <a:solidFill>
                  <a:srgbClr val="212529"/>
                </a:solidFill>
                <a:latin typeface="Consolas"/>
              </a:defRPr>
            </a:pPr>
            <a:r>
              <a:t>2R + G      = 580</a:t>
            </a:r>
          </a:p>
          <a:p>
            <a:pPr>
              <a:spcAft>
                <a:spcPts val="400"/>
              </a:spcAft>
              <a:defRPr b="0" sz="1600">
                <a:solidFill>
                  <a:srgbClr val="212529"/>
                </a:solidFill>
                <a:latin typeface="Consolas"/>
              </a:defRPr>
            </a:pPr>
            <a:r>
              <a:t>R + 2B      = 550</a:t>
            </a:r>
          </a:p>
          <a:p>
            <a:pPr>
              <a:spcAft>
                <a:spcPts val="400"/>
              </a:spcAft>
              <a:defRPr b="0" sz="8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b="1" sz="1700">
                <a:solidFill>
                  <a:srgbClr val="0F2043"/>
                </a:solidFill>
                <a:latin typeface="Calibri"/>
              </a:defRPr>
            </a:pPr>
            <a:r>
              <a:t>Forma A · X = B</a:t>
            </a:r>
          </a:p>
          <a:p>
            <a:pPr>
              <a:spcAft>
                <a:spcPts val="400"/>
              </a:spcAft>
              <a:defRPr b="0" sz="1400">
                <a:solidFill>
                  <a:srgbClr val="212529"/>
                </a:solidFill>
                <a:latin typeface="Consolas"/>
              </a:defRPr>
            </a:pPr>
            <a:r>
              <a:t>|1 1 1| |R|   |561|</a:t>
            </a:r>
          </a:p>
          <a:p>
            <a:pPr>
              <a:spcAft>
                <a:spcPts val="400"/>
              </a:spcAft>
              <a:defRPr b="0" sz="1400">
                <a:solidFill>
                  <a:srgbClr val="212529"/>
                </a:solidFill>
                <a:latin typeface="Consolas"/>
              </a:defRPr>
            </a:pPr>
            <a:r>
              <a:t>|2 1 0| |G| = |580|</a:t>
            </a:r>
          </a:p>
          <a:p>
            <a:pPr>
              <a:spcAft>
                <a:spcPts val="400"/>
              </a:spcAft>
              <a:defRPr b="0" sz="1400">
                <a:solidFill>
                  <a:srgbClr val="212529"/>
                </a:solidFill>
                <a:latin typeface="Consolas"/>
              </a:defRPr>
            </a:pPr>
            <a:r>
              <a:t>|1 0 2| |B|   |550|</a:t>
            </a:r>
          </a:p>
          <a:p>
            <a:pPr>
              <a:spcAft>
                <a:spcPts val="400"/>
              </a:spcAft>
              <a:defRPr b="0" sz="8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b="1" sz="1500">
                <a:solidFill>
                  <a:srgbClr val="1E72DB"/>
                </a:solidFill>
                <a:latin typeface="Calibri"/>
              </a:defRPr>
            </a:pPr>
            <a:r>
              <a:t>Gauss → B=177, G=188, R=196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5029200"/>
          </a:xfrm>
          <a:prstGeom prst="roundRect">
            <a:avLst/>
          </a:prstGeom>
          <a:solidFill>
            <a:srgbClr val="E6F2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Resposta = 1 pixel (R,G,B)</a:t>
            </a:r>
          </a:p>
        </p:txBody>
      </p:sp>
      <p:pic>
        <p:nvPicPr>
          <p:cNvPr id="8" name="Picture 7" descr="swatc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1554480" cy="1554480"/>
          </a:xfrm>
          <a:prstGeom prst="rect">
            <a:avLst/>
          </a:prstGeom>
        </p:spPr>
      </p:pic>
      <p:pic>
        <p:nvPicPr>
          <p:cNvPr id="9" name="Picture 8" descr="swatch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03120"/>
            <a:ext cx="1554480" cy="1554480"/>
          </a:xfrm>
          <a:prstGeom prst="rect">
            <a:avLst/>
          </a:prstGeom>
        </p:spPr>
      </p:pic>
      <p:pic>
        <p:nvPicPr>
          <p:cNvPr id="10" name="Picture 9" descr="swatch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103120"/>
            <a:ext cx="1554480" cy="1554480"/>
          </a:xfrm>
          <a:prstGeom prst="rect">
            <a:avLst/>
          </a:prstGeom>
        </p:spPr>
      </p:pic>
      <p:pic>
        <p:nvPicPr>
          <p:cNvPr id="11" name="Picture 10" descr="swatch_pix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931920"/>
            <a:ext cx="219456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89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72DB"/>
                </a:solidFill>
              </a:defRPr>
            </a:pPr>
            <a:r>
              <a:t>Conferencia: 2·196 + 188 = 580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t>ALGEBRA LINEAR · CIENCIA DA COMPUTACAO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Conclusao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id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8308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1. 3 matrizes alinhadas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</a:defRPr>
            </a:pPr>
            <a:r>
              <a:t>R, G e B → cor por pixel.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id_r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8308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2. Operacoes = efeitos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</a:defRPr>
            </a:pPr>
            <a:r>
              <a:t>Transposta e escalar no dia a 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watch_pix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78308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3. Sistema = ferramenta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</a:defRPr>
            </a:pPr>
            <a:r>
              <a:t>Exemplo didatico com Gauss.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</a:defRPr>
            </a:pPr>
            <a:r>
              <a:t>STEINBRUCH; WINTERLE — Algebra linear (2014)  ·  GONZALEZ; WOODS — Processamento digital de imagens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043"/>
                </a:solidFill>
              </a:defRPr>
            </a:pPr>
            <a: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