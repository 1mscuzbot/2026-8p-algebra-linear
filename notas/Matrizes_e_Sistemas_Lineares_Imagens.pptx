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3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7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3600" b="1">
                <a:solidFill>
                  <a:srgbClr val="0F2043"/>
                </a:solidFill>
              </a:defRPr>
            </a:pP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Matrizes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e Sistemas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Lineares</a:t>
            </a:r>
            <a:br>
              <a:rPr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em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Imagens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Digitais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>
              <a:spcAft>
                <a:spcPts val="1000"/>
              </a:spcAft>
              <a:defRPr sz="1800" b="1">
                <a:solidFill>
                  <a:srgbClr val="1E72DB"/>
                </a:solidFill>
              </a:defRPr>
            </a:pP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Álgebra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Linear ·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Ciência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da Computação</a:t>
            </a:r>
          </a:p>
          <a:p>
            <a:pPr algn="ctr">
              <a:defRPr sz="1600">
                <a:solidFill>
                  <a:srgbClr val="6C757D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Lucas Müller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Scuzziato</a:t>
            </a: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72DB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ÁLGEBRA LINEAR · CIÊNCIA DA COMPUTAÇÃO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rPr lang="en-US" sz="2800" dirty="0">
                <a:latin typeface="Aharoni" panose="02010803020104030203" pitchFamily="2" charset="-79"/>
                <a:cs typeface="Aharoni" panose="02010803020104030203" pitchFamily="2" charset="-79"/>
              </a:rPr>
              <a:t>IMAGEM</a:t>
            </a:r>
            <a:r>
              <a:rPr lang="en-US" sz="2600" dirty="0">
                <a:latin typeface="Aharoni" panose="02010803020104030203" pitchFamily="2" charset="-79"/>
                <a:cs typeface="Aharoni" panose="02010803020104030203" pitchFamily="2" charset="-79"/>
              </a:rPr>
              <a:t> DIGITAL = MATRIZ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2043"/>
                </a:solidFill>
              </a:defRPr>
            </a:pP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Representação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Numérica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de Imagens</a:t>
            </a:r>
          </a:p>
          <a:p>
            <a:pPr>
              <a:spcAft>
                <a:spcPts val="1200"/>
              </a:spcAft>
              <a:defRPr sz="1600" b="0">
                <a:solidFill>
                  <a:srgbClr val="212529"/>
                </a:solidFill>
              </a:defRPr>
            </a:pPr>
            <a:r>
              <a:rPr sz="1400" b="1" dirty="0">
                <a:latin typeface="Abadi" panose="020B0604020104020204" pitchFamily="34" charset="0"/>
                <a:cs typeface="Aharoni" panose="02010803020104030203" pitchFamily="2" charset="-79"/>
              </a:rPr>
              <a:t>• Tons de </a:t>
            </a:r>
            <a:r>
              <a:rPr sz="1400" b="1" dirty="0" err="1">
                <a:latin typeface="Abadi" panose="020B0604020104020204" pitchFamily="34" charset="0"/>
                <a:cs typeface="Aharoni" panose="02010803020104030203" pitchFamily="2" charset="-79"/>
              </a:rPr>
              <a:t>cinza</a:t>
            </a:r>
            <a:r>
              <a:rPr sz="1400" b="1" dirty="0">
                <a:latin typeface="Abadi" panose="020B0604020104020204" pitchFamily="34" charset="0"/>
                <a:cs typeface="Aharoni" panose="02010803020104030203" pitchFamily="2" charset="-79"/>
              </a:rPr>
              <a:t>: </a:t>
            </a:r>
            <a:r>
              <a:rPr sz="1400" b="1" dirty="0" err="1">
                <a:latin typeface="Abadi" panose="020B0604020104020204" pitchFamily="34" charset="0"/>
                <a:cs typeface="Aharoni" panose="02010803020104030203" pitchFamily="2" charset="-79"/>
              </a:rPr>
              <a:t>Representados</a:t>
            </a:r>
            <a:r>
              <a:rPr sz="1400" b="1" dirty="0">
                <a:latin typeface="Abadi" panose="020B0604020104020204" pitchFamily="34" charset="0"/>
                <a:cs typeface="Aharoni" panose="02010803020104030203" pitchFamily="2" charset="-79"/>
              </a:rPr>
              <a:t> </a:t>
            </a:r>
            <a:r>
              <a:rPr sz="1400" b="1" dirty="0" err="1">
                <a:latin typeface="Abadi" panose="020B0604020104020204" pitchFamily="34" charset="0"/>
                <a:cs typeface="Aharoni" panose="02010803020104030203" pitchFamily="2" charset="-79"/>
              </a:rPr>
              <a:t>por</a:t>
            </a:r>
            <a:r>
              <a:rPr sz="1400" b="1" dirty="0">
                <a:latin typeface="Abadi" panose="020B0604020104020204" pitchFamily="34" charset="0"/>
                <a:cs typeface="Aharoni" panose="02010803020104030203" pitchFamily="2" charset="-79"/>
              </a:rPr>
              <a:t> 1 </a:t>
            </a:r>
            <a:r>
              <a:rPr sz="1400" b="1" dirty="0" err="1">
                <a:latin typeface="Abadi" panose="020B0604020104020204" pitchFamily="34" charset="0"/>
                <a:cs typeface="Aharoni" panose="02010803020104030203" pitchFamily="2" charset="-79"/>
              </a:rPr>
              <a:t>matriz</a:t>
            </a:r>
            <a:r>
              <a:rPr sz="1400" b="1" dirty="0">
                <a:latin typeface="Abadi" panose="020B0604020104020204" pitchFamily="34" charset="0"/>
                <a:cs typeface="Aharoni" panose="02010803020104030203" pitchFamily="2" charset="-79"/>
              </a:rPr>
              <a:t> m × n</a:t>
            </a:r>
          </a:p>
          <a:p>
            <a:pPr>
              <a:spcAft>
                <a:spcPts val="1200"/>
              </a:spcAft>
              <a:defRPr sz="1600" b="0">
                <a:solidFill>
                  <a:srgbClr val="212529"/>
                </a:solidFill>
              </a:defRPr>
            </a:pPr>
            <a:r>
              <a:rPr sz="1400" b="1" dirty="0">
                <a:latin typeface="Abadi" panose="020B0604020104020204" pitchFamily="34" charset="0"/>
                <a:cs typeface="Aharoni" panose="02010803020104030203" pitchFamily="2" charset="-79"/>
              </a:rPr>
              <a:t>• Modelo RGB: </a:t>
            </a:r>
            <a:r>
              <a:rPr sz="1400" b="1" dirty="0" err="1">
                <a:latin typeface="Abadi" panose="020B0604020104020204" pitchFamily="34" charset="0"/>
                <a:cs typeface="Aharoni" panose="02010803020104030203" pitchFamily="2" charset="-79"/>
              </a:rPr>
              <a:t>Representado</a:t>
            </a:r>
            <a:r>
              <a:rPr sz="1400" b="1" dirty="0">
                <a:latin typeface="Abadi" panose="020B0604020104020204" pitchFamily="34" charset="0"/>
                <a:cs typeface="Aharoni" panose="02010803020104030203" pitchFamily="2" charset="-79"/>
              </a:rPr>
              <a:t> </a:t>
            </a:r>
            <a:r>
              <a:rPr sz="1400" b="1" dirty="0" err="1">
                <a:latin typeface="Abadi" panose="020B0604020104020204" pitchFamily="34" charset="0"/>
                <a:cs typeface="Aharoni" panose="02010803020104030203" pitchFamily="2" charset="-79"/>
              </a:rPr>
              <a:t>por</a:t>
            </a:r>
            <a:r>
              <a:rPr sz="1400" b="1" dirty="0">
                <a:latin typeface="Abadi" panose="020B0604020104020204" pitchFamily="34" charset="0"/>
                <a:cs typeface="Aharoni" panose="02010803020104030203" pitchFamily="2" charset="-79"/>
              </a:rPr>
              <a:t> 3 </a:t>
            </a:r>
            <a:r>
              <a:rPr sz="1400" b="1" dirty="0" err="1">
                <a:latin typeface="Abadi" panose="020B0604020104020204" pitchFamily="34" charset="0"/>
                <a:cs typeface="Aharoni" panose="02010803020104030203" pitchFamily="2" charset="-79"/>
              </a:rPr>
              <a:t>matrizes</a:t>
            </a:r>
            <a:r>
              <a:rPr sz="1400" b="1" dirty="0">
                <a:latin typeface="Abadi" panose="020B0604020104020204" pitchFamily="34" charset="0"/>
                <a:cs typeface="Aharoni" panose="02010803020104030203" pitchFamily="2" charset="-79"/>
              </a:rPr>
              <a:t> (R, G, B)</a:t>
            </a:r>
          </a:p>
          <a:p>
            <a:pPr>
              <a:spcAft>
                <a:spcPts val="1200"/>
              </a:spcAft>
              <a:defRPr sz="1600" b="0">
                <a:solidFill>
                  <a:srgbClr val="212529"/>
                </a:solidFill>
              </a:defRPr>
            </a:pPr>
            <a:r>
              <a:rPr sz="1400" b="1" dirty="0">
                <a:latin typeface="Abadi" panose="020B0604020104020204" pitchFamily="34" charset="0"/>
                <a:cs typeface="Aharoni" panose="02010803020104030203" pitchFamily="2" charset="-79"/>
              </a:rPr>
              <a:t>• Valor de </a:t>
            </a:r>
            <a:r>
              <a:rPr sz="1400" b="1" dirty="0" err="1">
                <a:latin typeface="Abadi" panose="020B0604020104020204" pitchFamily="34" charset="0"/>
                <a:cs typeface="Aharoni" panose="02010803020104030203" pitchFamily="2" charset="-79"/>
              </a:rPr>
              <a:t>cada</a:t>
            </a:r>
            <a:r>
              <a:rPr sz="1400" b="1" dirty="0">
                <a:latin typeface="Abadi" panose="020B0604020104020204" pitchFamily="34" charset="0"/>
                <a:cs typeface="Aharoni" panose="02010803020104030203" pitchFamily="2" charset="-79"/>
              </a:rPr>
              <a:t> </a:t>
            </a:r>
            <a:r>
              <a:rPr sz="1400" b="1" dirty="0" err="1">
                <a:latin typeface="Abadi" panose="020B0604020104020204" pitchFamily="34" charset="0"/>
                <a:cs typeface="Aharoni" panose="02010803020104030203" pitchFamily="2" charset="-79"/>
              </a:rPr>
              <a:t>elemento</a:t>
            </a:r>
            <a:r>
              <a:rPr sz="1400" b="1" dirty="0">
                <a:latin typeface="Abadi" panose="020B0604020104020204" pitchFamily="34" charset="0"/>
                <a:cs typeface="Aharoni" panose="02010803020104030203" pitchFamily="2" charset="-79"/>
              </a:rPr>
              <a:t> (pixel): Escala de 0 a 255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64592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C82828"/>
                </a:solidFill>
              </a:defRPr>
            </a:pPr>
            <a:r>
              <a:rPr lang="en-US" sz="1600" dirty="0" err="1">
                <a:solidFill>
                  <a:schemeClr val="tx1"/>
                </a:solidFill>
                <a:latin typeface="Abadi" panose="020F0502020204030204" pitchFamily="34" charset="0"/>
              </a:rPr>
              <a:t>Exemplo</a:t>
            </a:r>
            <a:r>
              <a:rPr lang="en-US" sz="1600" dirty="0">
                <a:solidFill>
                  <a:schemeClr val="tx1"/>
                </a:solidFill>
                <a:latin typeface="Abadi" panose="020F0502020204030204" pitchFamily="34" charset="0"/>
              </a:rPr>
              <a:t> de </a:t>
            </a:r>
            <a:r>
              <a:rPr lang="en-US" sz="1600" dirty="0" err="1">
                <a:solidFill>
                  <a:schemeClr val="tx1"/>
                </a:solidFill>
                <a:latin typeface="Abadi" panose="020F0502020204030204" pitchFamily="34" charset="0"/>
              </a:rPr>
              <a:t>Matrizes</a:t>
            </a:r>
            <a:r>
              <a:rPr lang="en-US" sz="1600" dirty="0">
                <a:solidFill>
                  <a:schemeClr val="tx1"/>
                </a:solidFill>
                <a:latin typeface="Abadi" panose="020F0502020204030204" pitchFamily="34" charset="0"/>
              </a:rPr>
              <a:t> RGB (3×3):</a:t>
            </a:r>
          </a:p>
          <a:p>
            <a:pPr algn="ctr">
              <a:defRPr sz="1400" b="1">
                <a:solidFill>
                  <a:srgbClr val="C82828"/>
                </a:solidFill>
              </a:defRPr>
            </a:pPr>
            <a:endParaRPr lang="en-US" sz="1600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>
              <a:defRPr sz="1400" b="1">
                <a:solidFill>
                  <a:srgbClr val="C82828"/>
                </a:solidFill>
              </a:defRPr>
            </a:pPr>
            <a:r>
              <a:rPr lang="en-US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Matriz</a:t>
            </a:r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 R (Red):</a:t>
            </a:r>
          </a:p>
          <a:p>
            <a:pPr algn="ctr">
              <a:defRPr sz="1300">
                <a:solidFill>
                  <a:srgbClr val="212529"/>
                </a:solidFill>
                <a:latin typeface="Courier New"/>
              </a:defRPr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|  196   184   201  |</a:t>
            </a:r>
          </a:p>
          <a:p>
            <a:pPr algn="ctr">
              <a:defRPr sz="1300">
                <a:solidFill>
                  <a:srgbClr val="212529"/>
                </a:solidFill>
                <a:latin typeface="Courier New"/>
              </a:defRPr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|  110    85    89  |</a:t>
            </a:r>
          </a:p>
          <a:p>
            <a:pPr algn="ctr">
              <a:defRPr sz="1300">
                <a:solidFill>
                  <a:srgbClr val="212529"/>
                </a:solidFill>
                <a:latin typeface="Courier New"/>
              </a:defRPr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|   38    33    29  |</a:t>
            </a:r>
          </a:p>
          <a:p>
            <a:pPr algn="ctr">
              <a:defRPr sz="1400" b="1">
                <a:solidFill>
                  <a:srgbClr val="28A028"/>
                </a:solidFill>
              </a:defRPr>
            </a:pPr>
            <a:r>
              <a:rPr lang="en-US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Matriz</a:t>
            </a:r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 G (Green):</a:t>
            </a:r>
          </a:p>
          <a:p>
            <a:pPr algn="ctr">
              <a:defRPr sz="1300">
                <a:solidFill>
                  <a:srgbClr val="212529"/>
                </a:solidFill>
                <a:latin typeface="Courier New"/>
              </a:defRPr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|  188   171   189  |</a:t>
            </a:r>
          </a:p>
          <a:p>
            <a:pPr algn="ctr">
              <a:defRPr sz="1300">
                <a:solidFill>
                  <a:srgbClr val="212529"/>
                </a:solidFill>
                <a:latin typeface="Courier New"/>
              </a:defRPr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|   85    56    58  |</a:t>
            </a:r>
          </a:p>
          <a:p>
            <a:pPr algn="ctr">
              <a:defRPr sz="1300">
                <a:solidFill>
                  <a:srgbClr val="212529"/>
                </a:solidFill>
                <a:latin typeface="Courier New"/>
              </a:defRPr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|   41    39    39  |</a:t>
            </a:r>
          </a:p>
          <a:p>
            <a:pPr algn="ctr">
              <a:defRPr sz="1400" b="1">
                <a:solidFill>
                  <a:srgbClr val="2850C8"/>
                </a:solidFill>
              </a:defRPr>
            </a:pPr>
            <a:r>
              <a:rPr lang="en-US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Matriz</a:t>
            </a:r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 B (Blue):</a:t>
            </a:r>
          </a:p>
          <a:p>
            <a:pPr algn="ctr">
              <a:defRPr sz="1300">
                <a:solidFill>
                  <a:srgbClr val="212529"/>
                </a:solidFill>
                <a:latin typeface="Courier New"/>
              </a:defRPr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|  177   162   177  |</a:t>
            </a:r>
          </a:p>
          <a:p>
            <a:pPr algn="ctr">
              <a:defRPr sz="1300">
                <a:solidFill>
                  <a:srgbClr val="212529"/>
                </a:solidFill>
                <a:latin typeface="Courier New"/>
              </a:defRPr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|   80    52    55  |</a:t>
            </a:r>
          </a:p>
          <a:p>
            <a:pPr algn="ctr">
              <a:defRPr sz="1300">
                <a:solidFill>
                  <a:srgbClr val="212529"/>
                </a:solidFill>
                <a:latin typeface="Courier New"/>
              </a:defRPr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|   32    29    28  |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72DB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ÁLGEBRA LINEAR · CIÊNCIA DA COMPUTAÇÃO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rPr lang="pt-BR" dirty="0">
                <a:latin typeface="Aharoni" panose="02010803020104030203" pitchFamily="2" charset="-79"/>
                <a:cs typeface="Aharoni" panose="02010803020104030203" pitchFamily="2" charset="-79"/>
              </a:rPr>
              <a:t>OPERAÇÕES DE MATRIZ → EFEITO VISUAL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358653"/>
              </p:ext>
            </p:extLst>
          </p:nvPr>
        </p:nvGraphicFramePr>
        <p:xfrm>
          <a:off x="731520" y="1645920"/>
          <a:ext cx="1072865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OPERAÇÃO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ÁLGEBRA LINEAR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600" dirty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EFEITO NA IMAGEM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rPr dirty="0" err="1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Transposta</a:t>
                      </a:r>
                      <a:r>
                        <a:rPr dirty="0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 Aᵀ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rPr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Troca linhas por colunas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rPr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Espelha a imagem pela diagonal principal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rPr dirty="0" err="1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Escalar</a:t>
                      </a:r>
                      <a:r>
                        <a:rPr dirty="0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 kA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rPr dirty="0" err="1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Multiplicação</a:t>
                      </a:r>
                      <a:r>
                        <a:rPr dirty="0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 </a:t>
                      </a:r>
                      <a:r>
                        <a:rPr dirty="0" err="1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por</a:t>
                      </a:r>
                      <a:r>
                        <a:rPr dirty="0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 </a:t>
                      </a:r>
                      <a:r>
                        <a:rPr dirty="0" err="1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constante</a:t>
                      </a:r>
                      <a:r>
                        <a:rPr dirty="0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 (ex: k=0,5 </a:t>
                      </a:r>
                      <a:r>
                        <a:rPr dirty="0" err="1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ou</a:t>
                      </a:r>
                      <a:r>
                        <a:rPr dirty="0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 k=1,5)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rPr dirty="0" err="1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Ajuste</a:t>
                      </a:r>
                      <a:r>
                        <a:rPr dirty="0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 de </a:t>
                      </a:r>
                      <a:r>
                        <a:rPr dirty="0" err="1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contraste</a:t>
                      </a:r>
                      <a:r>
                        <a:rPr dirty="0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 e </a:t>
                      </a:r>
                      <a:r>
                        <a:rPr dirty="0" err="1">
                          <a:latin typeface="Abadi" panose="020B0604020104020204" pitchFamily="34" charset="0"/>
                          <a:cs typeface="Aharoni" panose="02010803020104030203" pitchFamily="2" charset="-79"/>
                        </a:rPr>
                        <a:t>brilho</a:t>
                      </a:r>
                      <a:endParaRPr dirty="0">
                        <a:latin typeface="Abadi" panose="020B0604020104020204" pitchFamily="34" charset="0"/>
                        <a:cs typeface="Aharoni" panose="02010803020104030203" pitchFamily="2" charset="-79"/>
                      </a:endParaRP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657600"/>
            <a:ext cx="51206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1E72DB"/>
                </a:solidFill>
              </a:defRPr>
            </a:pPr>
            <a:r>
              <a:rPr lang="pt-BR" dirty="0">
                <a:solidFill>
                  <a:srgbClr val="4973A7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Transposta Rᵀ (Espelhamento):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5242255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  <a:defRPr sz="1600" b="1">
                <a:solidFill>
                  <a:srgbClr val="1E72DB"/>
                </a:solidFill>
              </a:defRPr>
            </a:pPr>
            <a:r>
              <a:rPr lang="pt-BR" dirty="0">
                <a:solidFill>
                  <a:srgbClr val="4973A7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Escalar 0,5 · R (Ajuste de Contraste):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09B706-AA7A-D0C5-CBE9-56C20689801C}"/>
              </a:ext>
            </a:extLst>
          </p:cNvPr>
          <p:cNvSpPr txBox="1"/>
          <p:nvPr/>
        </p:nvSpPr>
        <p:spPr>
          <a:xfrm>
            <a:off x="6217920" y="4337595"/>
            <a:ext cx="52422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latin typeface="Courier New"/>
              </a:defRPr>
            </a:pPr>
            <a:r>
              <a:rPr lang="pt-BR" sz="2400" dirty="0">
                <a:solidFill>
                  <a:schemeClr val="tx1"/>
                </a:solidFill>
              </a:rPr>
              <a:t>≈ |  98   92   100 |</a:t>
            </a:r>
          </a:p>
          <a:p>
            <a:pPr algn="ctr">
              <a:defRPr sz="1300">
                <a:latin typeface="Courier New"/>
              </a:defRPr>
            </a:pPr>
            <a:r>
              <a:rPr lang="pt-BR" sz="2400" dirty="0">
                <a:solidFill>
                  <a:schemeClr val="tx1"/>
                </a:solidFill>
              </a:rPr>
              <a:t>≈ |  55   42   44  |</a:t>
            </a:r>
          </a:p>
          <a:p>
            <a:pPr algn="ctr">
              <a:defRPr sz="1300">
                <a:latin typeface="Courier New"/>
              </a:defRPr>
            </a:pPr>
            <a:r>
              <a:rPr lang="pt-BR" sz="2400" dirty="0">
                <a:solidFill>
                  <a:schemeClr val="tx1"/>
                </a:solidFill>
              </a:rPr>
              <a:t>≈ |  19   16   14  |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32256-FC01-0FC2-B040-3BFC9BFCE512}"/>
              </a:ext>
            </a:extLst>
          </p:cNvPr>
          <p:cNvSpPr txBox="1"/>
          <p:nvPr/>
        </p:nvSpPr>
        <p:spPr>
          <a:xfrm>
            <a:off x="731520" y="4337594"/>
            <a:ext cx="5120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latin typeface="Courier New"/>
              </a:defRPr>
            </a:pPr>
            <a:r>
              <a:rPr lang="pt-BR" sz="2400" dirty="0">
                <a:solidFill>
                  <a:schemeClr val="tx1"/>
                </a:solidFill>
              </a:rPr>
              <a:t>|  196   110    38  |</a:t>
            </a:r>
          </a:p>
          <a:p>
            <a:pPr algn="ctr">
              <a:defRPr sz="1300">
                <a:latin typeface="Courier New"/>
              </a:defRPr>
            </a:pPr>
            <a:r>
              <a:rPr lang="pt-BR" sz="2400" dirty="0">
                <a:solidFill>
                  <a:schemeClr val="tx1"/>
                </a:solidFill>
              </a:rPr>
              <a:t>|  184    85    33  |</a:t>
            </a:r>
          </a:p>
          <a:p>
            <a:pPr algn="ctr">
              <a:defRPr sz="1300">
                <a:latin typeface="Courier New"/>
              </a:defRPr>
            </a:pPr>
            <a:r>
              <a:rPr lang="pt-BR" sz="2400" dirty="0">
                <a:solidFill>
                  <a:schemeClr val="tx1"/>
                </a:solidFill>
              </a:rPr>
              <a:t>|  201    89    29 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72DB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ÁLGEBRA LINEAR · CIÊNCIA DA COMPUTAÇÃO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rPr lang="pt-BR" dirty="0">
                <a:latin typeface="Aharoni" panose="02010803020104030203" pitchFamily="2" charset="-79"/>
                <a:cs typeface="Aharoni" panose="02010803020104030203" pitchFamily="2" charset="-79"/>
              </a:rPr>
              <a:t>RECUPERAR R, G, B A PARTIR DE MEDIÇÕES MISTURADAS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399" y="1828800"/>
            <a:ext cx="2931738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F2043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1. Sistema de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Equações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>
              <a:spcAft>
                <a:spcPts val="1200"/>
              </a:spcAft>
              <a:defRPr sz="1600" b="1">
                <a:solidFill>
                  <a:srgbClr val="0F2043"/>
                </a:solidFill>
              </a:defRPr>
            </a:pP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spcAft>
                <a:spcPts val="1200"/>
              </a:spcAft>
              <a:defRPr sz="1300" b="0">
                <a:solidFill>
                  <a:srgbClr val="6C757D"/>
                </a:solidFill>
              </a:defRPr>
            </a:pP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Equações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de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mistura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spcAft>
                <a:spcPts val="1200"/>
              </a:spcAft>
              <a:defRPr sz="1400" b="1">
                <a:solidFill>
                  <a:srgbClr val="212529"/>
                </a:solidFill>
              </a:defRPr>
            </a:pPr>
            <a:r>
              <a:rPr dirty="0">
                <a:latin typeface="Abadi" panose="020B0604020104020204" pitchFamily="34" charset="0"/>
              </a:rPr>
              <a:t>R + G + B = 561</a:t>
            </a:r>
            <a:br>
              <a:rPr dirty="0">
                <a:latin typeface="Abadi" panose="020B0604020104020204" pitchFamily="34" charset="0"/>
              </a:rPr>
            </a:br>
            <a:r>
              <a:rPr dirty="0">
                <a:latin typeface="Abadi" panose="020B0604020104020204" pitchFamily="34" charset="0"/>
              </a:rPr>
              <a:t>2R + G = 580</a:t>
            </a:r>
            <a:br>
              <a:rPr dirty="0">
                <a:latin typeface="Abadi" panose="020B0604020104020204" pitchFamily="34" charset="0"/>
              </a:rPr>
            </a:br>
            <a:r>
              <a:rPr dirty="0">
                <a:latin typeface="Abadi" panose="020B0604020104020204" pitchFamily="34" charset="0"/>
              </a:rPr>
              <a:t>R + 2B = 550</a:t>
            </a:r>
          </a:p>
          <a:p>
            <a:pPr>
              <a:spcAft>
                <a:spcPts val="1200"/>
              </a:spcAft>
              <a:defRPr sz="1300" b="0">
                <a:solidFill>
                  <a:srgbClr val="6C757D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Forma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Matricial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(A · x = b):</a:t>
            </a:r>
          </a:p>
          <a:p>
            <a:pPr>
              <a:defRPr sz="1100">
                <a:latin typeface="Courier New"/>
              </a:defRPr>
            </a:pPr>
            <a:r>
              <a:rPr dirty="0"/>
              <a:t>| 1  1  1 |   | R |   | 561 |</a:t>
            </a:r>
            <a:br>
              <a:rPr dirty="0"/>
            </a:br>
            <a:r>
              <a:rPr dirty="0"/>
              <a:t>| 2  1  0 | · | G | = | 580 |</a:t>
            </a:r>
            <a:br>
              <a:rPr dirty="0"/>
            </a:br>
            <a:r>
              <a:rPr dirty="0"/>
              <a:t>| 1  0  2 |   | B |   | 550 |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494516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F2043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2.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Eliminação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Gaussiana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>
              <a:spcAft>
                <a:spcPts val="1200"/>
              </a:spcAft>
              <a:defRPr sz="1600" b="1">
                <a:solidFill>
                  <a:srgbClr val="0F2043"/>
                </a:solidFill>
              </a:defRPr>
            </a:pP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spcAft>
                <a:spcPts val="1200"/>
              </a:spcAft>
              <a:defRPr sz="1300" b="1">
                <a:solidFill>
                  <a:srgbClr val="1E72DB"/>
                </a:solidFill>
              </a:defRPr>
            </a:pPr>
            <a:r>
              <a:rPr dirty="0">
                <a:latin typeface="Abadi" panose="020B0604020104020204" pitchFamily="34" charset="0"/>
                <a:cs typeface="Aharoni" panose="02010803020104030203" pitchFamily="2" charset="-79"/>
              </a:rPr>
              <a:t>Passo 1: </a:t>
            </a:r>
            <a:r>
              <a:rPr dirty="0" err="1">
                <a:latin typeface="Abadi" panose="020B0604020104020204" pitchFamily="34" charset="0"/>
                <a:cs typeface="Aharoni" panose="02010803020104030203" pitchFamily="2" charset="-79"/>
              </a:rPr>
              <a:t>Pivotamento</a:t>
            </a:r>
            <a:r>
              <a:rPr dirty="0">
                <a:latin typeface="Abadi" panose="020B0604020104020204" pitchFamily="34" charset="0"/>
                <a:cs typeface="Aharoni" panose="02010803020104030203" pitchFamily="2" charset="-79"/>
              </a:rPr>
              <a:t> </a:t>
            </a:r>
            <a:r>
              <a:rPr dirty="0" err="1">
                <a:latin typeface="Abadi" panose="020B0604020104020204" pitchFamily="34" charset="0"/>
                <a:cs typeface="Aharoni" panose="02010803020104030203" pitchFamily="2" charset="-79"/>
              </a:rPr>
              <a:t>em</a:t>
            </a:r>
            <a:r>
              <a:rPr dirty="0">
                <a:latin typeface="Abadi" panose="020B0604020104020204" pitchFamily="34" charset="0"/>
                <a:cs typeface="Aharoni" panose="02010803020104030203" pitchFamily="2" charset="-79"/>
              </a:rPr>
              <a:t> L₁</a:t>
            </a:r>
          </a:p>
          <a:p>
            <a:pPr>
              <a:spcAft>
                <a:spcPts val="1200"/>
              </a:spcAft>
              <a:defRPr sz="1300" b="0">
                <a:solidFill>
                  <a:srgbClr val="212529"/>
                </a:solidFill>
              </a:defRPr>
            </a:pPr>
            <a:r>
              <a:rPr dirty="0"/>
              <a:t>• L₂ ← L₂ − 2L₁</a:t>
            </a:r>
            <a:br>
              <a:rPr dirty="0"/>
            </a:br>
            <a:r>
              <a:rPr dirty="0"/>
              <a:t>• L₃ ← L₃ − L₁</a:t>
            </a:r>
          </a:p>
          <a:p>
            <a:pPr>
              <a:spcAft>
                <a:spcPts val="1200"/>
              </a:spcAft>
              <a:defRPr sz="1300" b="1">
                <a:solidFill>
                  <a:srgbClr val="1E72DB"/>
                </a:solidFill>
              </a:defRPr>
            </a:pPr>
            <a:r>
              <a:rPr dirty="0">
                <a:latin typeface="Abadi" panose="020B0604020104020204" pitchFamily="34" charset="0"/>
              </a:rPr>
              <a:t>Passo 2: </a:t>
            </a:r>
            <a:r>
              <a:rPr dirty="0" err="1">
                <a:latin typeface="Abadi" panose="020B0604020104020204" pitchFamily="34" charset="0"/>
              </a:rPr>
              <a:t>Redução</a:t>
            </a:r>
            <a:r>
              <a:rPr dirty="0">
                <a:latin typeface="Abadi" panose="020B0604020104020204" pitchFamily="34" charset="0"/>
              </a:rPr>
              <a:t> da </a:t>
            </a:r>
            <a:r>
              <a:rPr dirty="0" err="1">
                <a:latin typeface="Abadi" panose="020B0604020104020204" pitchFamily="34" charset="0"/>
              </a:rPr>
              <a:t>Linha</a:t>
            </a:r>
            <a:r>
              <a:rPr dirty="0">
                <a:latin typeface="Abadi" panose="020B0604020104020204" pitchFamily="34" charset="0"/>
              </a:rPr>
              <a:t> 3</a:t>
            </a:r>
          </a:p>
          <a:p>
            <a:pPr>
              <a:spcAft>
                <a:spcPts val="1200"/>
              </a:spcAft>
              <a:defRPr sz="1300" b="0">
                <a:solidFill>
                  <a:srgbClr val="212529"/>
                </a:solidFill>
              </a:defRPr>
            </a:pPr>
            <a:r>
              <a:rPr dirty="0"/>
              <a:t>• L₃ ← L₃ − L₂</a:t>
            </a:r>
          </a:p>
          <a:p>
            <a:pPr>
              <a:spcAft>
                <a:spcPts val="1200"/>
              </a:spcAft>
              <a:defRPr sz="1300" b="1">
                <a:solidFill>
                  <a:srgbClr val="1E72DB"/>
                </a:solidFill>
              </a:defRPr>
            </a:pPr>
            <a:r>
              <a:rPr dirty="0">
                <a:latin typeface="Abadi" panose="020B0604020104020204" pitchFamily="34" charset="0"/>
              </a:rPr>
              <a:t>Passo 3: </a:t>
            </a:r>
            <a:r>
              <a:rPr dirty="0" err="1">
                <a:latin typeface="Abadi" panose="020B0604020104020204" pitchFamily="34" charset="0"/>
              </a:rPr>
              <a:t>Substituição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Regressiva</a:t>
            </a:r>
            <a:endParaRPr dirty="0">
              <a:latin typeface="Abadi" panose="020B0604020104020204" pitchFamily="34" charset="0"/>
            </a:endParaRPr>
          </a:p>
          <a:p>
            <a:pPr>
              <a:spcAft>
                <a:spcPts val="1200"/>
              </a:spcAft>
              <a:defRPr sz="1300" b="0">
                <a:solidFill>
                  <a:srgbClr val="212529"/>
                </a:solidFill>
              </a:defRPr>
            </a:pPr>
            <a:r>
              <a:rPr dirty="0">
                <a:latin typeface="Abadi" panose="020B0604020104020204" pitchFamily="34" charset="0"/>
              </a:rPr>
              <a:t>• </a:t>
            </a:r>
            <a:r>
              <a:rPr dirty="0" err="1">
                <a:latin typeface="Abadi" panose="020B0604020104020204" pitchFamily="34" charset="0"/>
              </a:rPr>
              <a:t>Obtenção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direta</a:t>
            </a:r>
            <a:r>
              <a:rPr dirty="0">
                <a:latin typeface="Abadi" panose="020B0604020104020204" pitchFamily="34" charset="0"/>
              </a:rPr>
              <a:t> do canal Azul:</a:t>
            </a:r>
            <a:br>
              <a:rPr dirty="0">
                <a:latin typeface="Abadi" panose="020B0604020104020204" pitchFamily="34" charset="0"/>
              </a:rPr>
            </a:br>
            <a:r>
              <a:rPr dirty="0">
                <a:latin typeface="Abadi" panose="020B0604020104020204" pitchFamily="34" charset="0"/>
              </a:rPr>
              <a:t>  B = 177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645920"/>
            <a:ext cx="3017520" cy="4572000"/>
          </a:xfrm>
          <a:prstGeom prst="roundRect">
            <a:avLst/>
          </a:prstGeom>
          <a:solidFill>
            <a:srgbClr val="E6F2FF"/>
          </a:solidFill>
          <a:ln>
            <a:solidFill>
              <a:srgbClr val="1E7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1" y="1828800"/>
            <a:ext cx="268224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F2043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3.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Canais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Isolados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>
              <a:spcAft>
                <a:spcPts val="1200"/>
              </a:spcAft>
              <a:defRPr sz="1600" b="1">
                <a:solidFill>
                  <a:srgbClr val="0F2043"/>
                </a:solidFill>
              </a:defRPr>
            </a:pPr>
            <a:endParaRPr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spcAft>
                <a:spcPts val="1200"/>
              </a:spcAft>
              <a:defRPr sz="1300" b="0">
                <a:solidFill>
                  <a:srgbClr val="6C757D"/>
                </a:solidFill>
              </a:defRPr>
            </a:pPr>
            <a:r>
              <a:rPr dirty="0" err="1">
                <a:latin typeface="Aharoni" panose="02010803020104030203" pitchFamily="2" charset="-79"/>
                <a:cs typeface="Aharoni" panose="02010803020104030203" pitchFamily="2" charset="-79"/>
              </a:rPr>
              <a:t>Substituindo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 de volta:</a:t>
            </a:r>
          </a:p>
          <a:p>
            <a:pPr>
              <a:spcAft>
                <a:spcPts val="1200"/>
              </a:spcAft>
              <a:defRPr sz="1800" b="1">
                <a:solidFill>
                  <a:srgbClr val="2850C8"/>
                </a:solidFill>
              </a:defRPr>
            </a:pPr>
            <a:r>
              <a:rPr dirty="0">
                <a:latin typeface="Abadi" panose="020B0604020104020204" pitchFamily="34" charset="0"/>
              </a:rPr>
              <a:t>B = 177</a:t>
            </a:r>
          </a:p>
          <a:p>
            <a:pPr>
              <a:spcAft>
                <a:spcPts val="1200"/>
              </a:spcAft>
              <a:defRPr sz="1800" b="1">
                <a:solidFill>
                  <a:srgbClr val="28A028"/>
                </a:solidFill>
              </a:defRPr>
            </a:pPr>
            <a:r>
              <a:rPr dirty="0">
                <a:latin typeface="Abadi" panose="020B0604020104020204" pitchFamily="34" charset="0"/>
              </a:rPr>
              <a:t>G = 188</a:t>
            </a:r>
          </a:p>
          <a:p>
            <a:pPr>
              <a:spcAft>
                <a:spcPts val="1200"/>
              </a:spcAft>
              <a:defRPr sz="1800" b="1">
                <a:solidFill>
                  <a:srgbClr val="C82828"/>
                </a:solidFill>
              </a:defRPr>
            </a:pPr>
            <a:r>
              <a:rPr dirty="0">
                <a:latin typeface="Abadi" panose="020B0604020104020204" pitchFamily="34" charset="0"/>
              </a:rPr>
              <a:t>R = 196</a:t>
            </a:r>
          </a:p>
          <a:p>
            <a:br>
              <a:rPr dirty="0">
                <a:latin typeface="Abadi" panose="020B0604020104020204" pitchFamily="34" charset="0"/>
              </a:rPr>
            </a:br>
            <a:r>
              <a:rPr dirty="0">
                <a:latin typeface="Abadi" panose="020B0604020104020204" pitchFamily="34" charset="0"/>
              </a:rPr>
              <a:t>✓ Pixel original </a:t>
            </a:r>
            <a:r>
              <a:rPr dirty="0" err="1">
                <a:latin typeface="Abadi" panose="020B0604020104020204" pitchFamily="34" charset="0"/>
              </a:rPr>
              <a:t>totalmente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reconstruído</a:t>
            </a:r>
            <a:r>
              <a:rPr dirty="0">
                <a:latin typeface="Abadi" panose="020B0604020104020204" pitchFamily="34" charset="0"/>
              </a:rPr>
              <a:t> com </a:t>
            </a:r>
            <a:r>
              <a:rPr dirty="0" err="1">
                <a:latin typeface="Abadi" panose="020B0604020104020204" pitchFamily="34" charset="0"/>
              </a:rPr>
              <a:t>sucesso</a:t>
            </a:r>
            <a:r>
              <a:rPr dirty="0">
                <a:latin typeface="Abadi" panose="020B0604020104020204" pitchFamily="34" charset="0"/>
              </a:rPr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72DB"/>
                </a:solidFill>
              </a:defRPr>
            </a:pP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ÁLGEBRA LINEAR · CIÊNCIA DA COMPUTAÇÃO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CONCLUSÃO E SÍNTESE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7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962656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100" b="1">
                <a:solidFill>
                  <a:srgbClr val="1E72DB"/>
                </a:solidFill>
              </a:defRPr>
            </a:pPr>
            <a:r>
              <a:rPr sz="1400" dirty="0">
                <a:latin typeface="Aharoni" panose="02010803020104030203" pitchFamily="2" charset="-79"/>
                <a:cs typeface="Aharoni" panose="02010803020104030203" pitchFamily="2" charset="-79"/>
              </a:rPr>
              <a:t>1. REPRESENTAÇÃO</a:t>
            </a:r>
          </a:p>
          <a:p>
            <a:pPr>
              <a:spcAft>
                <a:spcPts val="1400"/>
              </a:spcAft>
              <a:defRPr sz="2000" b="1">
                <a:solidFill>
                  <a:srgbClr val="0F2043"/>
                </a:solidFill>
              </a:defRPr>
            </a:pPr>
            <a:endParaRPr lang="en-US" dirty="0">
              <a:latin typeface="Abadi" panose="020B0604020104020204" pitchFamily="34" charset="0"/>
            </a:endParaRPr>
          </a:p>
          <a:p>
            <a:pPr>
              <a:spcAft>
                <a:spcPts val="1400"/>
              </a:spcAft>
              <a:defRPr sz="2000" b="1">
                <a:solidFill>
                  <a:srgbClr val="0F2043"/>
                </a:solidFill>
              </a:defRPr>
            </a:pPr>
            <a:r>
              <a:rPr dirty="0" err="1">
                <a:latin typeface="Abadi" panose="020B0604020104020204" pitchFamily="34" charset="0"/>
              </a:rPr>
              <a:t>Imagem</a:t>
            </a:r>
            <a:r>
              <a:rPr dirty="0">
                <a:latin typeface="Abadi" panose="020B0604020104020204" pitchFamily="34" charset="0"/>
              </a:rPr>
              <a:t> = </a:t>
            </a:r>
            <a:r>
              <a:rPr dirty="0" err="1">
                <a:latin typeface="Abadi" panose="020B0604020104020204" pitchFamily="34" charset="0"/>
              </a:rPr>
              <a:t>Matriz</a:t>
            </a:r>
            <a:endParaRPr lang="en-US" dirty="0">
              <a:latin typeface="Abadi" panose="020B0604020104020204" pitchFamily="34" charset="0"/>
            </a:endParaRPr>
          </a:p>
          <a:p>
            <a:pPr>
              <a:spcAft>
                <a:spcPts val="1400"/>
              </a:spcAft>
              <a:defRPr sz="2000" b="1">
                <a:solidFill>
                  <a:srgbClr val="0F2043"/>
                </a:solidFill>
              </a:defRPr>
            </a:pPr>
            <a:endParaRPr dirty="0">
              <a:latin typeface="Abadi" panose="020B0604020104020204" pitchFamily="34" charset="0"/>
            </a:endParaRP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>
                <a:latin typeface="Abadi" panose="020B0604020104020204" pitchFamily="34" charset="0"/>
              </a:rPr>
              <a:t>Toda </a:t>
            </a:r>
            <a:r>
              <a:rPr dirty="0" err="1">
                <a:latin typeface="Abadi" panose="020B0604020104020204" pitchFamily="34" charset="0"/>
              </a:rPr>
              <a:t>imagem</a:t>
            </a:r>
            <a:r>
              <a:rPr dirty="0">
                <a:latin typeface="Abadi" panose="020B0604020104020204" pitchFamily="34" charset="0"/>
              </a:rPr>
              <a:t> digital é </a:t>
            </a:r>
            <a:r>
              <a:rPr dirty="0" err="1">
                <a:latin typeface="Abadi" panose="020B0604020104020204" pitchFamily="34" charset="0"/>
              </a:rPr>
              <a:t>estruturada</a:t>
            </a:r>
            <a:r>
              <a:rPr dirty="0">
                <a:latin typeface="Abadi" panose="020B0604020104020204" pitchFamily="34" charset="0"/>
              </a:rPr>
              <a:t> e </a:t>
            </a:r>
            <a:r>
              <a:rPr dirty="0" err="1">
                <a:latin typeface="Abadi" panose="020B0604020104020204" pitchFamily="34" charset="0"/>
              </a:rPr>
              <a:t>processada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como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uma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ou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mais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matrizes</a:t>
            </a:r>
            <a:r>
              <a:rPr dirty="0">
                <a:latin typeface="Abadi" panose="020B0604020104020204" pitchFamily="34" charset="0"/>
              </a:rPr>
              <a:t> de </a:t>
            </a:r>
            <a:r>
              <a:rPr dirty="0" err="1">
                <a:latin typeface="Abadi" panose="020B0604020104020204" pitchFamily="34" charset="0"/>
              </a:rPr>
              <a:t>inteiros</a:t>
            </a:r>
            <a:r>
              <a:rPr dirty="0">
                <a:latin typeface="Abadi" panose="020B0604020104020204" pitchFamily="34" charset="0"/>
              </a:rPr>
              <a:t> (0–255).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08576" y="2011680"/>
            <a:ext cx="2962656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100" b="1">
                <a:solidFill>
                  <a:srgbClr val="1E72DB"/>
                </a:solidFill>
              </a:defRPr>
            </a:pPr>
            <a:r>
              <a:rPr sz="1400" dirty="0">
                <a:latin typeface="Aharoni" panose="02010803020104030203" pitchFamily="2" charset="-79"/>
                <a:cs typeface="Aharoni" panose="02010803020104030203" pitchFamily="2" charset="-79"/>
              </a:rPr>
              <a:t>2. MANIPULAÇÃO</a:t>
            </a:r>
          </a:p>
          <a:p>
            <a:pPr>
              <a:spcAft>
                <a:spcPts val="1400"/>
              </a:spcAft>
              <a:defRPr sz="2000" b="1">
                <a:solidFill>
                  <a:srgbClr val="0F2043"/>
                </a:solidFill>
              </a:defRPr>
            </a:pPr>
            <a:endParaRPr lang="en-US" dirty="0">
              <a:latin typeface="Abadi" panose="020B0604020104020204" pitchFamily="34" charset="0"/>
            </a:endParaRPr>
          </a:p>
          <a:p>
            <a:pPr>
              <a:spcAft>
                <a:spcPts val="1400"/>
              </a:spcAft>
              <a:defRPr sz="2000" b="1">
                <a:solidFill>
                  <a:srgbClr val="0F2043"/>
                </a:solidFill>
              </a:defRPr>
            </a:pPr>
            <a:r>
              <a:rPr dirty="0" err="1">
                <a:latin typeface="Abadi" panose="020B0604020104020204" pitchFamily="34" charset="0"/>
              </a:rPr>
              <a:t>Operações</a:t>
            </a:r>
            <a:r>
              <a:rPr dirty="0">
                <a:latin typeface="Abadi" panose="020B0604020104020204" pitchFamily="34" charset="0"/>
              </a:rPr>
              <a:t> = </a:t>
            </a:r>
            <a:r>
              <a:rPr dirty="0" err="1">
                <a:latin typeface="Abadi" panose="020B0604020104020204" pitchFamily="34" charset="0"/>
              </a:rPr>
              <a:t>Efeitos</a:t>
            </a:r>
            <a:endParaRPr lang="en-US" dirty="0">
              <a:latin typeface="Abadi" panose="020B0604020104020204" pitchFamily="34" charset="0"/>
            </a:endParaRPr>
          </a:p>
          <a:p>
            <a:pPr>
              <a:spcAft>
                <a:spcPts val="1400"/>
              </a:spcAft>
              <a:defRPr sz="2000" b="1">
                <a:solidFill>
                  <a:srgbClr val="0F2043"/>
                </a:solidFill>
              </a:defRPr>
            </a:pPr>
            <a:endParaRPr dirty="0">
              <a:latin typeface="Abadi" panose="020B0604020104020204" pitchFamily="34" charset="0"/>
            </a:endParaRP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 err="1">
                <a:latin typeface="Abadi" panose="020B0604020104020204" pitchFamily="34" charset="0"/>
              </a:rPr>
              <a:t>Operações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matriciais</a:t>
            </a:r>
            <a:r>
              <a:rPr dirty="0">
                <a:latin typeface="Abadi" panose="020B0604020104020204" pitchFamily="34" charset="0"/>
              </a:rPr>
              <a:t> simples (</a:t>
            </a:r>
            <a:r>
              <a:rPr dirty="0" err="1">
                <a:latin typeface="Abadi" panose="020B0604020104020204" pitchFamily="34" charset="0"/>
              </a:rPr>
              <a:t>como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transposição</a:t>
            </a:r>
            <a:r>
              <a:rPr dirty="0">
                <a:latin typeface="Abadi" panose="020B0604020104020204" pitchFamily="34" charset="0"/>
              </a:rPr>
              <a:t> e </a:t>
            </a:r>
            <a:r>
              <a:rPr dirty="0" err="1">
                <a:latin typeface="Abadi" panose="020B0604020104020204" pitchFamily="34" charset="0"/>
              </a:rPr>
              <a:t>escala</a:t>
            </a:r>
            <a:r>
              <a:rPr dirty="0">
                <a:latin typeface="Abadi" panose="020B0604020104020204" pitchFamily="34" charset="0"/>
              </a:rPr>
              <a:t>) </a:t>
            </a:r>
            <a:r>
              <a:rPr dirty="0" err="1">
                <a:latin typeface="Abadi" panose="020B0604020104020204" pitchFamily="34" charset="0"/>
              </a:rPr>
              <a:t>geram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transformações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visuais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diretas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como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espelhamento</a:t>
            </a:r>
            <a:r>
              <a:rPr dirty="0">
                <a:latin typeface="Abadi" panose="020B0604020104020204" pitchFamily="34" charset="0"/>
              </a:rPr>
              <a:t> e </a:t>
            </a:r>
            <a:r>
              <a:rPr dirty="0" err="1">
                <a:latin typeface="Abadi" panose="020B0604020104020204" pitchFamily="34" charset="0"/>
              </a:rPr>
              <a:t>controle</a:t>
            </a:r>
            <a:r>
              <a:rPr dirty="0">
                <a:latin typeface="Abadi" panose="020B0604020104020204" pitchFamily="34" charset="0"/>
              </a:rPr>
              <a:t> de </a:t>
            </a:r>
            <a:r>
              <a:rPr dirty="0" err="1">
                <a:latin typeface="Abadi" panose="020B0604020104020204" pitchFamily="34" charset="0"/>
              </a:rPr>
              <a:t>contraste</a:t>
            </a:r>
            <a:r>
              <a:rPr dirty="0">
                <a:latin typeface="Abadi" panose="020B0604020104020204" pitchFamily="34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2011680"/>
            <a:ext cx="2962656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100" b="1">
                <a:solidFill>
                  <a:srgbClr val="1E72DB"/>
                </a:solidFill>
              </a:defRPr>
            </a:pPr>
            <a:r>
              <a:rPr sz="1400" dirty="0">
                <a:latin typeface="Aharoni" panose="02010803020104030203" pitchFamily="2" charset="-79"/>
                <a:cs typeface="Aharoni" panose="02010803020104030203" pitchFamily="2" charset="-79"/>
              </a:rPr>
              <a:t>3. RECONSTRUÇÃO</a:t>
            </a:r>
          </a:p>
          <a:p>
            <a:pPr>
              <a:spcAft>
                <a:spcPts val="1400"/>
              </a:spcAft>
              <a:defRPr sz="2000" b="1">
                <a:solidFill>
                  <a:srgbClr val="0F2043"/>
                </a:solidFill>
              </a:defRPr>
            </a:pPr>
            <a:endParaRPr lang="en-US" dirty="0">
              <a:latin typeface="Abadi" panose="020B0604020104020204" pitchFamily="34" charset="0"/>
            </a:endParaRPr>
          </a:p>
          <a:p>
            <a:pPr>
              <a:spcAft>
                <a:spcPts val="1400"/>
              </a:spcAft>
              <a:defRPr sz="2000" b="1">
                <a:solidFill>
                  <a:srgbClr val="0F2043"/>
                </a:solidFill>
              </a:defRPr>
            </a:pPr>
            <a:r>
              <a:rPr dirty="0">
                <a:latin typeface="Abadi" panose="020B0604020104020204" pitchFamily="34" charset="0"/>
              </a:rPr>
              <a:t>Sistemas = </a:t>
            </a:r>
            <a:r>
              <a:rPr dirty="0" err="1">
                <a:latin typeface="Abadi" panose="020B0604020104020204" pitchFamily="34" charset="0"/>
              </a:rPr>
              <a:t>Separação</a:t>
            </a:r>
            <a:endParaRPr lang="en-US" dirty="0">
              <a:latin typeface="Abadi" panose="020B0604020104020204" pitchFamily="34" charset="0"/>
            </a:endParaRPr>
          </a:p>
          <a:p>
            <a:pPr>
              <a:spcAft>
                <a:spcPts val="1400"/>
              </a:spcAft>
              <a:defRPr sz="2000" b="1">
                <a:solidFill>
                  <a:srgbClr val="0F2043"/>
                </a:solidFill>
              </a:defRPr>
            </a:pPr>
            <a:endParaRPr dirty="0">
              <a:latin typeface="Abadi" panose="020B0604020104020204" pitchFamily="34" charset="0"/>
            </a:endParaRPr>
          </a:p>
          <a:p>
            <a:pPr>
              <a:defRPr sz="1400">
                <a:solidFill>
                  <a:srgbClr val="212529"/>
                </a:solidFill>
              </a:defRPr>
            </a:pPr>
            <a:r>
              <a:rPr dirty="0">
                <a:latin typeface="Abadi" panose="020B0604020104020204" pitchFamily="34" charset="0"/>
              </a:rPr>
              <a:t>A </a:t>
            </a:r>
            <a:r>
              <a:rPr dirty="0" err="1">
                <a:latin typeface="Abadi" panose="020B0604020104020204" pitchFamily="34" charset="0"/>
              </a:rPr>
              <a:t>resolução</a:t>
            </a:r>
            <a:r>
              <a:rPr dirty="0">
                <a:latin typeface="Abadi" panose="020B0604020104020204" pitchFamily="34" charset="0"/>
              </a:rPr>
              <a:t> de </a:t>
            </a:r>
            <a:r>
              <a:rPr dirty="0" err="1">
                <a:latin typeface="Abadi" panose="020B0604020104020204" pitchFamily="34" charset="0"/>
              </a:rPr>
              <a:t>sistemas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lineares</a:t>
            </a:r>
            <a:r>
              <a:rPr dirty="0">
                <a:latin typeface="Abadi" panose="020B0604020104020204" pitchFamily="34" charset="0"/>
              </a:rPr>
              <a:t> (</a:t>
            </a:r>
            <a:r>
              <a:rPr dirty="0" err="1">
                <a:latin typeface="Abadi" panose="020B0604020104020204" pitchFamily="34" charset="0"/>
              </a:rPr>
              <a:t>Eliminação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Gaussiana</a:t>
            </a:r>
            <a:r>
              <a:rPr dirty="0">
                <a:latin typeface="Abadi" panose="020B0604020104020204" pitchFamily="34" charset="0"/>
              </a:rPr>
              <a:t>) </a:t>
            </a:r>
            <a:r>
              <a:rPr dirty="0" err="1">
                <a:latin typeface="Abadi" panose="020B0604020104020204" pitchFamily="34" charset="0"/>
              </a:rPr>
              <a:t>permite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recuperar</a:t>
            </a:r>
            <a:r>
              <a:rPr dirty="0">
                <a:latin typeface="Abadi" panose="020B0604020104020204" pitchFamily="34" charset="0"/>
              </a:rPr>
              <a:t> </a:t>
            </a:r>
            <a:r>
              <a:rPr dirty="0" err="1">
                <a:latin typeface="Abadi" panose="020B0604020104020204" pitchFamily="34" charset="0"/>
              </a:rPr>
              <a:t>canais</a:t>
            </a:r>
            <a:r>
              <a:rPr dirty="0">
                <a:latin typeface="Abadi" panose="020B0604020104020204" pitchFamily="34" charset="0"/>
              </a:rPr>
              <a:t> de </a:t>
            </a:r>
            <a:r>
              <a:rPr dirty="0" err="1">
                <a:latin typeface="Abadi" panose="020B0604020104020204" pitchFamily="34" charset="0"/>
              </a:rPr>
              <a:t>cor</a:t>
            </a:r>
            <a:r>
              <a:rPr dirty="0">
                <a:latin typeface="Abadi" panose="020B0604020104020204" pitchFamily="34" charset="0"/>
              </a:rPr>
              <a:t> puros a </a:t>
            </a:r>
            <a:r>
              <a:rPr dirty="0" err="1">
                <a:latin typeface="Abadi" panose="020B0604020104020204" pitchFamily="34" charset="0"/>
              </a:rPr>
              <a:t>partir</a:t>
            </a:r>
            <a:r>
              <a:rPr dirty="0">
                <a:latin typeface="Abadi" panose="020B0604020104020204" pitchFamily="34" charset="0"/>
              </a:rPr>
              <a:t> de </a:t>
            </a:r>
            <a:r>
              <a:rPr dirty="0" err="1">
                <a:latin typeface="Abadi" panose="020B0604020104020204" pitchFamily="34" charset="0"/>
              </a:rPr>
              <a:t>misturas</a:t>
            </a:r>
            <a:r>
              <a:rPr dirty="0">
                <a:latin typeface="Abadi" panose="020B0604020104020204" pitchFamily="34" charset="0"/>
              </a:rPr>
              <a:t> de luz.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511</Words>
  <Application>Microsoft Office PowerPoint</Application>
  <PresentationFormat>Widescreen</PresentationFormat>
  <Paragraphs>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Abadi</vt:lpstr>
      <vt:lpstr>Aharoni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DBSoftware Servico</cp:lastModifiedBy>
  <cp:revision>2</cp:revision>
  <dcterms:created xsi:type="dcterms:W3CDTF">2013-01-27T09:14:16Z</dcterms:created>
  <dcterms:modified xsi:type="dcterms:W3CDTF">2026-09-18T19:53:49Z</dcterms:modified>
  <cp:category/>
</cp:coreProperties>
</file>